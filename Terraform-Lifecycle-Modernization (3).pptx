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BM Plex Sans"/>
      <p:regular r:id="rId17"/>
    </p:embeddedFont>
    <p:embeddedFont>
      <p:font typeface="IBM Plex Sans"/>
      <p:regular r:id="rId18"/>
    </p:embeddedFont>
    <p:embeddedFont>
      <p:font typeface="IBM Plex Sans"/>
      <p:regular r:id="rId19"/>
    </p:embeddedFont>
    <p:embeddedFont>
      <p:font typeface="IBM Plex Sans"/>
      <p:regular r:id="rId20"/>
    </p:embeddedFont>
    <p:embeddedFont>
      <p:font typeface="IBM Plex Sans"/>
      <p:regular r:id="rId21"/>
    </p:embeddedFont>
    <p:embeddedFont>
      <p:font typeface="IBM Plex Sans"/>
      <p:regular r:id="rId22"/>
    </p:embeddedFont>
    <p:embeddedFont>
      <p:font typeface="IBM Plex Sans"/>
      <p:regular r:id="rId23"/>
    </p:embeddedFont>
    <p:embeddedFont>
      <p:font typeface="IBM Plex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B6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B6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B6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B6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B6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B6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B6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B6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B6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B6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Terraform Lifecycle Modernization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comprehensive program modernizing Terraform lifecycle through AI-assisted governance, documentation, and security—establishing measurable baselines and enabling autonomous operations over time.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9615" y="740212"/>
            <a:ext cx="1909286" cy="391835"/>
          </a:xfrm>
          <a:prstGeom prst="roundRect">
            <a:avLst>
              <a:gd name="adj" fmla="val 17878"/>
            </a:avLst>
          </a:prstGeom>
          <a:solidFill>
            <a:srgbClr val="DCEFDC"/>
          </a:solidFill>
          <a:ln/>
        </p:spPr>
      </p:sp>
      <p:sp>
        <p:nvSpPr>
          <p:cNvPr id="3" name="Text 1"/>
          <p:cNvSpPr/>
          <p:nvPr/>
        </p:nvSpPr>
        <p:spPr>
          <a:xfrm>
            <a:off x="854631" y="802719"/>
            <a:ext cx="1659255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PROGRAM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29615" y="1215390"/>
            <a:ext cx="9116258" cy="651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Business Value &amp; Strategic Outcomes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729615" y="2179558"/>
            <a:ext cx="6481286" cy="2717363"/>
          </a:xfrm>
          <a:prstGeom prst="roundRect">
            <a:avLst>
              <a:gd name="adj" fmla="val 3222"/>
            </a:avLst>
          </a:prstGeom>
          <a:solidFill>
            <a:srgbClr val="DCEFDC"/>
          </a:solidFill>
          <a:ln w="7620">
            <a:solidFill>
              <a:srgbClr val="C2D5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5713" y="2395657"/>
            <a:ext cx="625435" cy="625435"/>
          </a:xfrm>
          <a:prstGeom prst="roundRect">
            <a:avLst>
              <a:gd name="adj" fmla="val 14618762"/>
            </a:avLst>
          </a:prstGeom>
          <a:solidFill>
            <a:srgbClr val="6DBC6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7759" y="2567583"/>
            <a:ext cx="281345" cy="2813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5713" y="3229570"/>
            <a:ext cx="2620208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Faster, Safer Delivery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45713" y="3680341"/>
            <a:ext cx="6049089" cy="100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documentation, consistent module structure, and early security feedback reduce cycle time from development to production.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19380" y="2179558"/>
            <a:ext cx="6481405" cy="2717363"/>
          </a:xfrm>
          <a:prstGeom prst="roundRect">
            <a:avLst>
              <a:gd name="adj" fmla="val 3222"/>
            </a:avLst>
          </a:prstGeom>
          <a:solidFill>
            <a:srgbClr val="DCEFDC"/>
          </a:solidFill>
          <a:ln w="7620">
            <a:solidFill>
              <a:srgbClr val="C2D5C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35478" y="2395657"/>
            <a:ext cx="625435" cy="625435"/>
          </a:xfrm>
          <a:prstGeom prst="roundRect">
            <a:avLst>
              <a:gd name="adj" fmla="val 14618762"/>
            </a:avLst>
          </a:prstGeom>
          <a:solidFill>
            <a:srgbClr val="6DBC6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07523" y="2567583"/>
            <a:ext cx="281345" cy="28134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478" y="3229570"/>
            <a:ext cx="3533061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Policy-Aligned Risk Handling</a:t>
            </a:r>
            <a:endParaRPr lang="en-US" sz="2050" dirty="0"/>
          </a:p>
        </p:txBody>
      </p:sp>
      <p:sp>
        <p:nvSpPr>
          <p:cNvPr id="14" name="Text 10"/>
          <p:cNvSpPr/>
          <p:nvPr/>
        </p:nvSpPr>
        <p:spPr>
          <a:xfrm>
            <a:off x="7635478" y="3680341"/>
            <a:ext cx="6049208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 produce fix PRs or exception drafts pre-filled with required evidence; approvals remain human-led.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29615" y="5105400"/>
            <a:ext cx="6481286" cy="2383869"/>
          </a:xfrm>
          <a:prstGeom prst="roundRect">
            <a:avLst>
              <a:gd name="adj" fmla="val 3673"/>
            </a:avLst>
          </a:prstGeom>
          <a:solidFill>
            <a:srgbClr val="DCEFDC"/>
          </a:solidFill>
          <a:ln w="7620">
            <a:solidFill>
              <a:srgbClr val="C2D5C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45713" y="5321498"/>
            <a:ext cx="625435" cy="625435"/>
          </a:xfrm>
          <a:prstGeom prst="roundRect">
            <a:avLst>
              <a:gd name="adj" fmla="val 14618762"/>
            </a:avLst>
          </a:prstGeom>
          <a:solidFill>
            <a:srgbClr val="6DBC6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7759" y="5493425"/>
            <a:ext cx="281345" cy="28134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5713" y="6155412"/>
            <a:ext cx="260604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Measurable Baseline</a:t>
            </a:r>
            <a:endParaRPr lang="en-US" sz="2050" dirty="0"/>
          </a:p>
        </p:txBody>
      </p:sp>
      <p:sp>
        <p:nvSpPr>
          <p:cNvPr id="19" name="Text 14"/>
          <p:cNvSpPr/>
          <p:nvPr/>
        </p:nvSpPr>
        <p:spPr>
          <a:xfrm>
            <a:off x="945713" y="6606183"/>
            <a:ext cx="6049089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Documentation freshness, module conformance, and security posture are continuously measured and trended.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419380" y="5105400"/>
            <a:ext cx="6481405" cy="2383869"/>
          </a:xfrm>
          <a:prstGeom prst="roundRect">
            <a:avLst>
              <a:gd name="adj" fmla="val 3673"/>
            </a:avLst>
          </a:prstGeom>
          <a:solidFill>
            <a:srgbClr val="DCEFDC"/>
          </a:solidFill>
          <a:ln w="7620">
            <a:solidFill>
              <a:srgbClr val="C2D5C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635478" y="5321498"/>
            <a:ext cx="625435" cy="625435"/>
          </a:xfrm>
          <a:prstGeom prst="roundRect">
            <a:avLst>
              <a:gd name="adj" fmla="val 14618762"/>
            </a:avLst>
          </a:prstGeom>
          <a:solidFill>
            <a:srgbClr val="6DBC6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07523" y="5493425"/>
            <a:ext cx="281345" cy="28134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35478" y="6155412"/>
            <a:ext cx="279404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Platform for Autonomy</a:t>
            </a:r>
            <a:endParaRPr lang="en-US" sz="2050" dirty="0"/>
          </a:p>
        </p:txBody>
      </p:sp>
      <p:sp>
        <p:nvSpPr>
          <p:cNvPr id="24" name="Text 18"/>
          <p:cNvSpPr/>
          <p:nvPr/>
        </p:nvSpPr>
        <p:spPr>
          <a:xfrm>
            <a:off x="7635478" y="6606183"/>
            <a:ext cx="6049208" cy="66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Once the baseline is enforced, agents can safely take on higher-order tasks like refactoring modules and orchestrating upgrades.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7596" y="603647"/>
            <a:ext cx="1476494" cy="427434"/>
          </a:xfrm>
          <a:prstGeom prst="roundRect">
            <a:avLst>
              <a:gd name="adj" fmla="val 17240"/>
            </a:avLst>
          </a:prstGeom>
          <a:noFill/>
          <a:ln w="7620">
            <a:solidFill>
              <a:srgbClr val="6DB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6780" y="676989"/>
            <a:ext cx="1198126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6DBC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7596" y="1118711"/>
            <a:ext cx="10317599" cy="68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Operating Principles &amp; Core Capabilities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767596" y="2352318"/>
            <a:ext cx="3289697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Operating Principles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767596" y="2982754"/>
            <a:ext cx="6280071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Automation favors fixes over exceptions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7596" y="3410307"/>
            <a:ext cx="6280071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Humans approve risk decisions; agents assemble evidence and drafts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7596" y="4188738"/>
            <a:ext cx="6280071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change updates both human-readable docs and machine-readable manifests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7596" y="4967168"/>
            <a:ext cx="6280071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Telemetry is first-class: all agent actions are auditable and measured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90353" y="2352318"/>
            <a:ext cx="3289697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Target Capabilities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590353" y="2982754"/>
            <a:ext cx="6280071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 &amp; Schema Bot: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generates/updates README, ADRs, and validates module manifests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90353" y="3761184"/>
            <a:ext cx="6280071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Dependency graph: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auto-PRs to dependents with changelogs and upgrade guidance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90353" y="4539615"/>
            <a:ext cx="6280071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Wiz integration: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advisory annotations → enforced gates with exception drafts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90353" y="5318046"/>
            <a:ext cx="6280071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Dashboards: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exceptions, MTTR, documentation freshness, module health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67596" y="6343174"/>
            <a:ext cx="13095208" cy="1282779"/>
          </a:xfrm>
          <a:prstGeom prst="roundRect">
            <a:avLst>
              <a:gd name="adj" fmla="val 7181"/>
            </a:avLst>
          </a:prstGeom>
          <a:solidFill>
            <a:srgbClr val="CBE7C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909" y="6676787"/>
            <a:ext cx="274082" cy="21931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80304" y="6617256"/>
            <a:ext cx="12163187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Note: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While AI is used for contextual reasoning and recommendations, TFLM is fundamentally schema driven and tooling lead. Deterministic validation, policy enforcement, and human approval remain authoritative.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926" y="614720"/>
            <a:ext cx="6883956" cy="69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Implementation Roadmap</a:t>
            </a:r>
            <a:endParaRPr lang="en-US" sz="4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926" y="1647468"/>
            <a:ext cx="1116449" cy="13398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07618" y="1870710"/>
            <a:ext cx="2819400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Phase 0: Foundations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607618" y="2353508"/>
            <a:ext cx="624125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Standards, schema, manifests, catalog, non-blocking checks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26" y="2987278"/>
            <a:ext cx="1116449" cy="133981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07618" y="3210520"/>
            <a:ext cx="3953232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Phase 1: Advisory Automation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607618" y="3693319"/>
            <a:ext cx="624125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Integrate WizCLI, draft fixes/exceptions, training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926" y="4327088"/>
            <a:ext cx="1116449" cy="16438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07618" y="4550331"/>
            <a:ext cx="4208026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Phase 2: Enforced Quality Gates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607618" y="5033129"/>
            <a:ext cx="6241256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 on Critical/High, enforce conformance, propagate updates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926" y="5970984"/>
            <a:ext cx="1116449" cy="16438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07618" y="6194227"/>
            <a:ext cx="4364117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Phase 3: Autonomous Operations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7607618" y="6677025"/>
            <a:ext cx="6241256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Dashboards, continuous analysis, expand to Helm, Docker, K8s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97781"/>
            <a:ext cx="1307663" cy="426244"/>
          </a:xfrm>
          <a:prstGeom prst="roundRect">
            <a:avLst>
              <a:gd name="adj" fmla="val 17880"/>
            </a:avLst>
          </a:prstGeom>
          <a:solidFill>
            <a:srgbClr val="DCEFD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420178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365766"/>
            <a:ext cx="76331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814751"/>
            <a:ext cx="74580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Key Performance Indicators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977039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14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793790" y="4008834"/>
            <a:ext cx="3048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Documentation Freshness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4853583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Days since last auto-update per module—signals staleness and risk of drift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125278" y="297703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95%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4194572" y="4008834"/>
            <a:ext cx="29094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Schema Conformance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125278" y="4499253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Percentage of modules passing structural checks—indicates standardization progress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456884" y="297703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2.5</a:t>
            </a:r>
            <a:endParaRPr lang="en-US" sz="5850" dirty="0"/>
          </a:p>
        </p:txBody>
      </p:sp>
      <p:sp>
        <p:nvSpPr>
          <p:cNvPr id="13" name="Text 10"/>
          <p:cNvSpPr/>
          <p:nvPr/>
        </p:nvSpPr>
        <p:spPr>
          <a:xfrm>
            <a:off x="7563326" y="40088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Security MTTR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456884" y="4499253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 days to remediate Wiz findings—measures effectiveness of advisory→enforced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788491" y="297703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8%</a:t>
            </a:r>
            <a:endParaRPr lang="en-US" sz="5850" dirty="0"/>
          </a:p>
        </p:txBody>
      </p:sp>
      <p:sp>
        <p:nvSpPr>
          <p:cNvPr id="16" name="Text 13"/>
          <p:cNvSpPr/>
          <p:nvPr/>
        </p:nvSpPr>
        <p:spPr>
          <a:xfrm>
            <a:off x="10894933" y="40088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Exception Rate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788491" y="4499253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Percentage of PRs requiring exceptions—highlights policy gaps or recurring constraints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793790" y="620601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These leading indicators provide continuous visibility into program health and enable data-driven decision making for policy evolution and resource allocation.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0677"/>
            <a:ext cx="91419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Phase 0: Establishing Foundations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13084"/>
            <a:ext cx="4196358" cy="3128129"/>
          </a:xfrm>
          <a:prstGeom prst="roundRect">
            <a:avLst>
              <a:gd name="adj" fmla="val 3046"/>
            </a:avLst>
          </a:prstGeom>
          <a:solidFill>
            <a:srgbClr val="DCEFDC"/>
          </a:solidFill>
          <a:ln w="7620">
            <a:solidFill>
              <a:srgbClr val="C2D5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047518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Define Terraform Module Schema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2892266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JSON Schema describing required structure: module identity, supported clouds, inputs/outputs, dependencies, docs pointers, and compliance metadata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1813084"/>
            <a:ext cx="4196358" cy="3128129"/>
          </a:xfrm>
          <a:prstGeom prst="roundRect">
            <a:avLst>
              <a:gd name="adj" fmla="val 3046"/>
            </a:avLst>
          </a:prstGeom>
          <a:solidFill>
            <a:srgbClr val="DCEFDC"/>
          </a:solidFill>
          <a:ln w="7620">
            <a:solidFill>
              <a:srgbClr val="C2D5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523" y="20475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Add Module Manifest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2537936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module.json at repo root to declare identity, interfaces, dependencies, and docs locations—enabling automation and global catalog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1813084"/>
            <a:ext cx="4196358" cy="3128129"/>
          </a:xfrm>
          <a:prstGeom prst="roundRect">
            <a:avLst>
              <a:gd name="adj" fmla="val 3046"/>
            </a:avLst>
          </a:prstGeom>
          <a:solidFill>
            <a:srgbClr val="DCEFDC"/>
          </a:solidFill>
          <a:ln w="7620">
            <a:solidFill>
              <a:srgbClr val="C2D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2047518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Standardize Repository Layout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289226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Establish consistent structure with modules, docs, ADRs, workflows, and schemas directories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8027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DCEFDC"/>
          </a:solidFill>
          <a:ln w="7620">
            <a:solidFill>
              <a:srgbClr val="C2D5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4786" y="5402461"/>
            <a:ext cx="34942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Documentation Templates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892879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README describes purpose, inputs/outputs, examples, version support, security notes; ADRs record decisions and trade-offs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5216962" y="5168027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DCEFDC"/>
          </a:solidFill>
          <a:ln w="7620">
            <a:solidFill>
              <a:srgbClr val="C2D5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523" y="54024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Non-Blocking CI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51396" y="5892879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 validates schema and posts non-blocking comments—easing adoption without blocking merges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9640133" y="5168027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DCEFDC"/>
          </a:solidFill>
          <a:ln w="7620">
            <a:solidFill>
              <a:srgbClr val="C2D5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20695" y="54024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Stand Up Catalog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74568" y="5892879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terraform-catalog repo with index.json enabling dependency graphing across all modules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6502" y="460772"/>
            <a:ext cx="745927" cy="330160"/>
          </a:xfrm>
          <a:prstGeom prst="roundRect">
            <a:avLst>
              <a:gd name="adj" fmla="val 17055"/>
            </a:avLst>
          </a:prstGeom>
          <a:noFill/>
          <a:ln w="7620">
            <a:solidFill>
              <a:srgbClr val="6DBC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611" y="518636"/>
            <a:ext cx="529709" cy="214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DBC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86502" y="857964"/>
            <a:ext cx="10215324" cy="523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Advisory Automation: Intelligence Without Blocking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586502" y="1800463"/>
            <a:ext cx="3016210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Integration &amp; Automation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86502" y="2282071"/>
            <a:ext cx="7910870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Integrate WizCLI in PR workflows to provide non-blocking security advisories. Parse results into JSON and post GitHub review comments for each finding with links and remediation guidance.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6502" y="2985849"/>
            <a:ext cx="2645212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Automated Responses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86502" y="3467457"/>
            <a:ext cx="7910870" cy="80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deterministic fixes, the agent opens a sibling PR with HCL changes and a linked plan. When findings cannot be fixed due to constraints, draft exception requests with required fields—approvals remain manual.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6502" y="4439364"/>
            <a:ext cx="2513767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Change Management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86502" y="4920972"/>
            <a:ext cx="7910870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brown-bag sessions on reading annotations, accepting fix PRs, and reviewing exception drafts. Create wiki pages with before/after examples and FAQ.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852" y="1821418"/>
            <a:ext cx="5137547" cy="513754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65193" y="7147441"/>
            <a:ext cx="4886206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"Provide PR-time advice without blocking, while drafting fixes or exception dossiers automatically."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913852" y="7147441"/>
            <a:ext cx="22860" cy="536258"/>
          </a:xfrm>
          <a:prstGeom prst="rect">
            <a:avLst/>
          </a:prstGeom>
          <a:solidFill>
            <a:srgbClr val="6DBC6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122" y="1276112"/>
            <a:ext cx="6398181" cy="530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Phase 2: Enforced Quality Gates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785098" y="2061210"/>
            <a:ext cx="22860" cy="4892159"/>
          </a:xfrm>
          <a:prstGeom prst="roundRect">
            <a:avLst>
              <a:gd name="adj" fmla="val 311908"/>
            </a:avLst>
          </a:prstGeom>
          <a:solidFill>
            <a:srgbClr val="C2D5C2"/>
          </a:solidFill>
          <a:ln/>
        </p:spPr>
      </p:sp>
      <p:sp>
        <p:nvSpPr>
          <p:cNvPr id="5" name="Shape 2"/>
          <p:cNvSpPr/>
          <p:nvPr/>
        </p:nvSpPr>
        <p:spPr>
          <a:xfrm>
            <a:off x="953214" y="2240756"/>
            <a:ext cx="509230" cy="22860"/>
          </a:xfrm>
          <a:prstGeom prst="roundRect">
            <a:avLst>
              <a:gd name="adj" fmla="val 311908"/>
            </a:avLst>
          </a:prstGeom>
          <a:solidFill>
            <a:srgbClr val="C2D5C2"/>
          </a:solidFill>
          <a:ln/>
        </p:spPr>
      </p:sp>
      <p:sp>
        <p:nvSpPr>
          <p:cNvPr id="6" name="Shape 3"/>
          <p:cNvSpPr/>
          <p:nvPr/>
        </p:nvSpPr>
        <p:spPr>
          <a:xfrm>
            <a:off x="594122" y="2061210"/>
            <a:ext cx="381953" cy="381952"/>
          </a:xfrm>
          <a:prstGeom prst="roundRect">
            <a:avLst>
              <a:gd name="adj" fmla="val 18668"/>
            </a:avLst>
          </a:prstGeom>
          <a:solidFill>
            <a:srgbClr val="DCEFDC"/>
          </a:solidFill>
          <a:ln w="7620">
            <a:solidFill>
              <a:srgbClr val="C2D5C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7820" y="2093059"/>
            <a:ext cx="254556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33895" y="2119551"/>
            <a:ext cx="2717959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Enable Blocking Conditions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33895" y="2486501"/>
            <a:ext cx="6915983" cy="543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Configure workflow to fail on Critical/High findings unless an approved exception is linked. Turn advisory checks into enforced gates.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53214" y="3548658"/>
            <a:ext cx="509230" cy="22860"/>
          </a:xfrm>
          <a:prstGeom prst="roundRect">
            <a:avLst>
              <a:gd name="adj" fmla="val 311908"/>
            </a:avLst>
          </a:prstGeom>
          <a:solidFill>
            <a:srgbClr val="C2D5C2"/>
          </a:solidFill>
          <a:ln/>
        </p:spPr>
      </p:sp>
      <p:sp>
        <p:nvSpPr>
          <p:cNvPr id="11" name="Shape 8"/>
          <p:cNvSpPr/>
          <p:nvPr/>
        </p:nvSpPr>
        <p:spPr>
          <a:xfrm>
            <a:off x="594122" y="3369112"/>
            <a:ext cx="381953" cy="381952"/>
          </a:xfrm>
          <a:prstGeom prst="roundRect">
            <a:avLst>
              <a:gd name="adj" fmla="val 18668"/>
            </a:avLst>
          </a:prstGeom>
          <a:solidFill>
            <a:srgbClr val="DCEFDC"/>
          </a:solidFill>
          <a:ln w="7620">
            <a:solidFill>
              <a:srgbClr val="C2D5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7820" y="3400961"/>
            <a:ext cx="254556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633895" y="3427452"/>
            <a:ext cx="2924294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Enforce Module Conformance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633895" y="3794403"/>
            <a:ext cx="6915983" cy="543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 schema validation and docs freshness as required checks. Fail build when manifests or docs are missing or stale.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53214" y="4856559"/>
            <a:ext cx="509230" cy="22860"/>
          </a:xfrm>
          <a:prstGeom prst="roundRect">
            <a:avLst>
              <a:gd name="adj" fmla="val 311908"/>
            </a:avLst>
          </a:prstGeom>
          <a:solidFill>
            <a:srgbClr val="C2D5C2"/>
          </a:solidFill>
          <a:ln/>
        </p:spPr>
      </p:sp>
      <p:sp>
        <p:nvSpPr>
          <p:cNvPr id="16" name="Shape 13"/>
          <p:cNvSpPr/>
          <p:nvPr/>
        </p:nvSpPr>
        <p:spPr>
          <a:xfrm>
            <a:off x="594122" y="4677013"/>
            <a:ext cx="381953" cy="381952"/>
          </a:xfrm>
          <a:prstGeom prst="roundRect">
            <a:avLst>
              <a:gd name="adj" fmla="val 18668"/>
            </a:avLst>
          </a:prstGeom>
          <a:solidFill>
            <a:srgbClr val="DCEFDC"/>
          </a:solidFill>
          <a:ln w="7620">
            <a:solidFill>
              <a:srgbClr val="C2D5C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7820" y="4708862"/>
            <a:ext cx="254556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633895" y="4735354"/>
            <a:ext cx="3236833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Dependency Graph &amp; Ripple PRs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33895" y="5102304"/>
            <a:ext cx="6915983" cy="543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module release, query terraform-catalog for dependents and open PRs with version bumps, changelogs, and upgrade notes.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53214" y="6164461"/>
            <a:ext cx="509230" cy="22860"/>
          </a:xfrm>
          <a:prstGeom prst="roundRect">
            <a:avLst>
              <a:gd name="adj" fmla="val 311908"/>
            </a:avLst>
          </a:prstGeom>
          <a:solidFill>
            <a:srgbClr val="C2D5C2"/>
          </a:solidFill>
          <a:ln/>
        </p:spPr>
      </p:sp>
      <p:sp>
        <p:nvSpPr>
          <p:cNvPr id="21" name="Shape 18"/>
          <p:cNvSpPr/>
          <p:nvPr/>
        </p:nvSpPr>
        <p:spPr>
          <a:xfrm>
            <a:off x="594122" y="5984915"/>
            <a:ext cx="381953" cy="381952"/>
          </a:xfrm>
          <a:prstGeom prst="roundRect">
            <a:avLst>
              <a:gd name="adj" fmla="val 18668"/>
            </a:avLst>
          </a:prstGeom>
          <a:solidFill>
            <a:srgbClr val="DCEFDC"/>
          </a:solidFill>
          <a:ln w="7620">
            <a:solidFill>
              <a:srgbClr val="C2D5C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7820" y="6016764"/>
            <a:ext cx="254556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633895" y="6043255"/>
            <a:ext cx="2122051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Release Governance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633895" y="6410206"/>
            <a:ext cx="6915983" cy="543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Enforce semantic versioning via CI. Require and validate changelog per PR. Run automated upgrade tests for key compositions.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46904"/>
            <a:ext cx="1770221" cy="426244"/>
          </a:xfrm>
          <a:prstGeom prst="roundRect">
            <a:avLst>
              <a:gd name="adj" fmla="val 17880"/>
            </a:avLst>
          </a:prstGeom>
          <a:solidFill>
            <a:srgbClr val="DCEFD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069300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014889"/>
            <a:ext cx="12258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AUTONOMOUS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463873"/>
            <a:ext cx="123147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Phase 3: Autonomous Operations &amp; Expansion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2512814"/>
            <a:ext cx="3048000" cy="1883807"/>
          </a:xfrm>
          <a:prstGeom prst="roundRect">
            <a:avLst>
              <a:gd name="adj" fmla="val 5057"/>
            </a:avLst>
          </a:prstGeom>
          <a:solidFill>
            <a:srgbClr val="DFDF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371" y="3237905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43263" y="3567470"/>
            <a:ext cx="1948934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There was an error generating this image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93790" y="4623435"/>
            <a:ext cx="3048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Telemetry &amp; Dashboards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93790" y="5468183"/>
            <a:ext cx="304800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Emit structured events from all workflows. Build dashboards for MTTR, exception half-life, module health, and doc freshness.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4125278" y="2512814"/>
            <a:ext cx="3048119" cy="1883807"/>
          </a:xfrm>
          <a:prstGeom prst="roundRect">
            <a:avLst>
              <a:gd name="adj" fmla="val 5057"/>
            </a:avLst>
          </a:prstGeom>
          <a:solidFill>
            <a:srgbClr val="DFDFE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978" y="3237905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74870" y="3567470"/>
            <a:ext cx="1948934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There was an error generating this image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4125278" y="4623435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Pattern Mining &amp; Policy Evolution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4125278" y="5468183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 recurring exception patterns; convert stable, low-risk patterns into codified policy updates or paved-path modules.</a:t>
            </a:r>
            <a:endParaRPr lang="en-US" sz="1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512814"/>
            <a:ext cx="3048119" cy="188380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56884" y="4623435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Expand Asset Coverage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56884" y="5468183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Integrate Dockerfiles, Helm charts, K8s manifests. Standardize common patterns across Azure/GCP/AWS.</a:t>
            </a:r>
            <a:endParaRPr lang="en-US" sz="17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512814"/>
            <a:ext cx="3048119" cy="188380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788491" y="4623435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Autonomy with Guardrails</a:t>
            </a:r>
            <a:endParaRPr lang="en-US" sz="2200" dirty="0"/>
          </a:p>
        </p:txBody>
      </p:sp>
      <p:sp>
        <p:nvSpPr>
          <p:cNvPr id="21" name="Text 14"/>
          <p:cNvSpPr/>
          <p:nvPr/>
        </p:nvSpPr>
        <p:spPr>
          <a:xfrm>
            <a:off x="10788491" y="5468183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Allow agents to refactor modules mechanically behind feature flags. Maintain human approval for risk or behavior changes.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793" y="643771"/>
            <a:ext cx="9254847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Governance &amp; Implementation Architecture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30793" y="1657469"/>
            <a:ext cx="3022521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Governance Framework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30793" y="2198132"/>
            <a:ext cx="6464498" cy="1444466"/>
          </a:xfrm>
          <a:prstGeom prst="roundRect">
            <a:avLst>
              <a:gd name="adj" fmla="val 7596"/>
            </a:avLst>
          </a:prstGeom>
          <a:solidFill>
            <a:srgbClr val="FFFFFF"/>
          </a:solidFill>
          <a:ln w="22860">
            <a:solidFill>
              <a:srgbClr val="C2D5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7933" y="2198132"/>
            <a:ext cx="91440" cy="1444466"/>
          </a:xfrm>
          <a:prstGeom prst="roundRect">
            <a:avLst>
              <a:gd name="adj" fmla="val 82797"/>
            </a:avLst>
          </a:prstGeom>
          <a:solidFill>
            <a:srgbClr val="6DBC6D"/>
          </a:solidFill>
          <a:ln/>
        </p:spPr>
      </p:sp>
      <p:sp>
        <p:nvSpPr>
          <p:cNvPr id="6" name="Text 4"/>
          <p:cNvSpPr/>
          <p:nvPr/>
        </p:nvSpPr>
        <p:spPr>
          <a:xfrm>
            <a:off x="902375" y="2401133"/>
            <a:ext cx="225313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Human Authority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02375" y="2862858"/>
            <a:ext cx="5989915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Approvals for risk acceptance remain with designated owners; automation only drafts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793" y="3822740"/>
            <a:ext cx="6464498" cy="1444466"/>
          </a:xfrm>
          <a:prstGeom prst="roundRect">
            <a:avLst>
              <a:gd name="adj" fmla="val 7596"/>
            </a:avLst>
          </a:prstGeom>
          <a:solidFill>
            <a:srgbClr val="FFFFFF"/>
          </a:solidFill>
          <a:ln w="22860">
            <a:solidFill>
              <a:srgbClr val="C2D5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7933" y="3822740"/>
            <a:ext cx="91440" cy="1444466"/>
          </a:xfrm>
          <a:prstGeom prst="roundRect">
            <a:avLst>
              <a:gd name="adj" fmla="val 82797"/>
            </a:avLst>
          </a:prstGeom>
          <a:solidFill>
            <a:srgbClr val="6DBC6D"/>
          </a:solidFill>
          <a:ln/>
        </p:spPr>
      </p:sp>
      <p:sp>
        <p:nvSpPr>
          <p:cNvPr id="10" name="Text 8"/>
          <p:cNvSpPr/>
          <p:nvPr/>
        </p:nvSpPr>
        <p:spPr>
          <a:xfrm>
            <a:off x="902375" y="4025741"/>
            <a:ext cx="225313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Traceability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02375" y="4487466"/>
            <a:ext cx="5989915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actions must be idempotent, traceable, and reversible with rollback PRs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793" y="5447348"/>
            <a:ext cx="6464498" cy="1156097"/>
          </a:xfrm>
          <a:prstGeom prst="roundRect">
            <a:avLst>
              <a:gd name="adj" fmla="val 9491"/>
            </a:avLst>
          </a:prstGeom>
          <a:solidFill>
            <a:srgbClr val="FFFFFF"/>
          </a:solidFill>
          <a:ln w="22860">
            <a:solidFill>
              <a:srgbClr val="C2D5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7933" y="5447348"/>
            <a:ext cx="91440" cy="1156097"/>
          </a:xfrm>
          <a:prstGeom prst="roundRect">
            <a:avLst>
              <a:gd name="adj" fmla="val 82797"/>
            </a:avLst>
          </a:prstGeom>
          <a:solidFill>
            <a:srgbClr val="6DBC6D"/>
          </a:solidFill>
          <a:ln/>
        </p:spPr>
      </p:sp>
      <p:sp>
        <p:nvSpPr>
          <p:cNvPr id="14" name="Text 12"/>
          <p:cNvSpPr/>
          <p:nvPr/>
        </p:nvSpPr>
        <p:spPr>
          <a:xfrm>
            <a:off x="902375" y="5650349"/>
            <a:ext cx="225313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Code Review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02375" y="6112073"/>
            <a:ext cx="598991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code changes occur via PR with human review; no direct pushes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2728" y="1657469"/>
            <a:ext cx="2860119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991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Technical Architecture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542728" y="2175510"/>
            <a:ext cx="6464498" cy="86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Reusable 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td-terraform-safety-check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workflow runs on PRs and scheduled cadence. Deterministic core with GitHub Actions + Checks API enforces standards. Optional AI drafts PRs or exception text from normalized artifacts.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2728" y="3202781"/>
            <a:ext cx="6464498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Scope: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Terraform modules across GCP/Azure/AWS, GitHub Enterprise repositories, Actions-based CI/CD, WizCLI for IaC scanning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793" y="7008971"/>
            <a:ext cx="13368814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program establishes a foundation for safe, measurable, and increasingly autonomous infrastructure management while maintaining human oversight for critical decisions.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2026-01-16T17:53:34Z</dcterms:created>
  <dcterms:modified xsi:type="dcterms:W3CDTF">2026-01-16T17:53:34Z</dcterms:modified>
</cp:coreProperties>
</file>