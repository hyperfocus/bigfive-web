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4630400" cy="8229600"/>
  <p:notesSz cx="8229600" cy="14630400"/>
  <p:embeddedFontLst>
    <p:embeddedFont>
      <p:font typeface="IBM Plex Sans"/>
      <p:regular r:id="rId26"/>
    </p:embeddedFont>
    <p:embeddedFont>
      <p:font typeface="IBM Plex Sans"/>
      <p:regular r:id="rId27"/>
    </p:embeddedFont>
    <p:embeddedFont>
      <p:font typeface="IBM Plex Sans"/>
      <p:regular r:id="rId28"/>
    </p:embeddedFont>
    <p:embeddedFont>
      <p:font typeface="IBM Plex Sans"/>
      <p:regular r:id="rId29"/>
    </p:embeddedFont>
    <p:embeddedFont>
      <p:font typeface="IBM Plex Sans"/>
      <p:regular r:id="rId30"/>
    </p:embeddedFont>
    <p:embeddedFont>
      <p:font typeface="IBM Plex Sans"/>
      <p:regular r:id="rId31"/>
    </p:embeddedFont>
    <p:embeddedFont>
      <p:font typeface="IBM Plex Sans"/>
      <p:regular r:id="rId32"/>
    </p:embeddedFont>
    <p:embeddedFont>
      <p:font typeface="IBM Plex Sans"/>
      <p:regular r:id="rId3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font" Target="fonts/font1.fntdata"/><Relationship Id="rId27" Type="http://schemas.openxmlformats.org/officeDocument/2006/relationships/font" Target="fonts/font2.fntdata"/><Relationship Id="rId28" Type="http://schemas.openxmlformats.org/officeDocument/2006/relationships/font" Target="fonts/font3.fntdata"/><Relationship Id="rId29" Type="http://schemas.openxmlformats.org/officeDocument/2006/relationships/font" Target="fonts/font4.fntdata"/><Relationship Id="rId30" Type="http://schemas.openxmlformats.org/officeDocument/2006/relationships/font" Target="fonts/font5.fntdata"/><Relationship Id="rId31" Type="http://schemas.openxmlformats.org/officeDocument/2006/relationships/font" Target="fonts/font6.fntdata"/><Relationship Id="rId32" Type="http://schemas.openxmlformats.org/officeDocument/2006/relationships/font" Target="fonts/font7.fntdata"/><Relationship Id="rId33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6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sv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sv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svg"/><Relationship Id="rId19" Type="http://schemas.openxmlformats.org/officeDocument/2006/relationships/slideLayout" Target="../slideLayouts/slideLayout7.xml"/><Relationship Id="rId2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9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svg"/><Relationship Id="rId4" Type="http://schemas.openxmlformats.org/officeDocument/2006/relationships/image" Target="../media/image-11-4.png"/><Relationship Id="rId5" Type="http://schemas.openxmlformats.org/officeDocument/2006/relationships/image" Target="../media/image-11-5.svg"/><Relationship Id="rId6" Type="http://schemas.openxmlformats.org/officeDocument/2006/relationships/image" Target="../media/image-11-6.png"/><Relationship Id="rId7" Type="http://schemas.openxmlformats.org/officeDocument/2006/relationships/image" Target="../media/image-11-7.svg"/><Relationship Id="rId8" Type="http://schemas.openxmlformats.org/officeDocument/2006/relationships/image" Target="../media/image-11-8.png"/><Relationship Id="rId9" Type="http://schemas.openxmlformats.org/officeDocument/2006/relationships/image" Target="../media/image-11-9.sv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sv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svg"/><Relationship Id="rId14" Type="http://schemas.openxmlformats.org/officeDocument/2006/relationships/slideLayout" Target="../slideLayouts/slideLayout12.xml"/><Relationship Id="rId1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slideLayout" Target="../slideLayouts/slideLayout13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svg"/><Relationship Id="rId4" Type="http://schemas.openxmlformats.org/officeDocument/2006/relationships/image" Target="../media/image-13-4.png"/><Relationship Id="rId5" Type="http://schemas.openxmlformats.org/officeDocument/2006/relationships/image" Target="../media/image-13-5.svg"/><Relationship Id="rId6" Type="http://schemas.openxmlformats.org/officeDocument/2006/relationships/image" Target="../media/image-13-6.png"/><Relationship Id="rId7" Type="http://schemas.openxmlformats.org/officeDocument/2006/relationships/image" Target="../media/image-13-7.svg"/><Relationship Id="rId8" Type="http://schemas.openxmlformats.org/officeDocument/2006/relationships/image" Target="../media/image-13-8.png"/><Relationship Id="rId9" Type="http://schemas.openxmlformats.org/officeDocument/2006/relationships/image" Target="../media/image-13-9.svg"/><Relationship Id="rId10" Type="http://schemas.openxmlformats.org/officeDocument/2006/relationships/slideLayout" Target="../slideLayouts/slideLayout14.xml"/><Relationship Id="rId11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5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6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sv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sv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image" Target="../media/image-16-14.svg"/><Relationship Id="rId15" Type="http://schemas.openxmlformats.org/officeDocument/2006/relationships/image" Target="../media/image-16-15.png"/><Relationship Id="rId16" Type="http://schemas.openxmlformats.org/officeDocument/2006/relationships/image" Target="../media/image-16-16.png"/><Relationship Id="rId17" Type="http://schemas.openxmlformats.org/officeDocument/2006/relationships/image" Target="../media/image-16-17.svg"/><Relationship Id="rId18" Type="http://schemas.openxmlformats.org/officeDocument/2006/relationships/image" Target="../media/image-16-18.png"/><Relationship Id="rId19" Type="http://schemas.openxmlformats.org/officeDocument/2006/relationships/slideLayout" Target="../slideLayouts/slideLayout17.xml"/><Relationship Id="rId2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8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9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20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814995"/>
            <a:ext cx="531459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Terraform Foundations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793790" y="3514368"/>
            <a:ext cx="7556421" cy="74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AF9646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Establishing the Technical Foundation for Consistent Infrastructure, Governance, and AI Reasoning</a:t>
            </a:r>
            <a:endParaRPr lang="en-US" sz="2300" dirty="0"/>
          </a:p>
        </p:txBody>
      </p:sp>
      <p:sp>
        <p:nvSpPr>
          <p:cNvPr id="5" name="Text 2"/>
          <p:cNvSpPr/>
          <p:nvPr/>
        </p:nvSpPr>
        <p:spPr>
          <a:xfrm>
            <a:off x="793790" y="4556165"/>
            <a:ext cx="75564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Scott Tully (Principal Engineer)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793790" y="5096947"/>
            <a:ext cx="75564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January 21, 2026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280190" y="1826062"/>
            <a:ext cx="1105972" cy="213598"/>
          </a:xfrm>
          <a:prstGeom prst="roundRect">
            <a:avLst>
              <a:gd name="adj" fmla="val 20294"/>
            </a:avLst>
          </a:prstGeom>
          <a:solidFill>
            <a:srgbClr val="E6F3E6"/>
          </a:solidFill>
          <a:ln/>
        </p:spPr>
      </p:sp>
      <p:sp>
        <p:nvSpPr>
          <p:cNvPr id="4" name="Text 1"/>
          <p:cNvSpPr/>
          <p:nvPr/>
        </p:nvSpPr>
        <p:spPr>
          <a:xfrm>
            <a:off x="6357580" y="1864757"/>
            <a:ext cx="951190" cy="136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 FIRST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280190" y="2073116"/>
            <a:ext cx="5567005" cy="403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Why This Matters: Context, Not Hype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280190" y="2601992"/>
            <a:ext cx="7556421" cy="510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initiative is 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highlight>
                  <a:srgbClr val="E6F3E6"/>
                </a:highlight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an AI project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but a **Terraform Foundations program**. We are establishing enterprise-grade infrastructure to build a robust, scalable, and secure technical environment. This foundational work ensures reliability and predictability, underpinning all future advancements, including AI.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280190" y="3207068"/>
            <a:ext cx="7556421" cy="426006"/>
          </a:xfrm>
          <a:prstGeom prst="roundRect">
            <a:avLst>
              <a:gd name="adj" fmla="val 12719"/>
            </a:avLst>
          </a:prstGeom>
          <a:solidFill>
            <a:srgbClr val="CBE6CB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134" y="3384828"/>
            <a:ext cx="161211" cy="12894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699290" y="3323034"/>
            <a:ext cx="7008376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becomes effective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after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foundation is consistent, structured, and reliable.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0190" y="3727371"/>
            <a:ext cx="386953" cy="38695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80190" y="4219099"/>
            <a:ext cx="1875592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Reduces operational risk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6280190" y="4470797"/>
            <a:ext cx="3725823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Automated deployments reduce failures, human error, and costly outages, ensuring consistent service.</a:t>
            </a:r>
            <a:endParaRPr lang="en-US" sz="10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10788" y="3727371"/>
            <a:ext cx="386953" cy="38695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110788" y="4219099"/>
            <a:ext cx="2004179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Improves delivery velocity</a:t>
            </a:r>
            <a:endParaRPr lang="en-US" sz="1250" dirty="0"/>
          </a:p>
        </p:txBody>
      </p:sp>
      <p:sp>
        <p:nvSpPr>
          <p:cNvPr id="15" name="Text 9"/>
          <p:cNvSpPr/>
          <p:nvPr/>
        </p:nvSpPr>
        <p:spPr>
          <a:xfrm>
            <a:off x="10110788" y="4470797"/>
            <a:ext cx="3725823" cy="510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Standardized environments and faster provisioning lead to quicker, more predictable feature releases and application deployments.</a:t>
            </a:r>
            <a:endParaRPr lang="en-US" sz="10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80190" y="5149215"/>
            <a:ext cx="386953" cy="386953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280190" y="5640943"/>
            <a:ext cx="3039666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Standardizes infrastructure enablement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6280190" y="5892641"/>
            <a:ext cx="3725823" cy="510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Consistent patterns foster shared understanding, simplify onboarding, and reduce configuration drift and technical debt across teams.</a:t>
            </a:r>
            <a:endParaRPr lang="en-US" sz="10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10788" y="5149215"/>
            <a:ext cx="386953" cy="386953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0110788" y="5640943"/>
            <a:ext cx="2428994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Creates machine-readable truth</a:t>
            </a:r>
            <a:endParaRPr lang="en-US" sz="1250" dirty="0"/>
          </a:p>
        </p:txBody>
      </p:sp>
      <p:sp>
        <p:nvSpPr>
          <p:cNvPr id="21" name="Text 13"/>
          <p:cNvSpPr/>
          <p:nvPr/>
        </p:nvSpPr>
        <p:spPr>
          <a:xfrm>
            <a:off x="10110788" y="5892641"/>
            <a:ext cx="3725823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Codified infrastructure creates a single source of truth, vital for AI systems to analyze, monitor, and automate tasks.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2279928"/>
            <a:ext cx="1158835" cy="234553"/>
          </a:xfrm>
          <a:prstGeom prst="roundRect">
            <a:avLst>
              <a:gd name="adj" fmla="val 19902"/>
            </a:avLst>
          </a:prstGeom>
          <a:solidFill>
            <a:srgbClr val="E6F3E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7133" y="2341602"/>
            <a:ext cx="111085" cy="11108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3702" y="2321600"/>
            <a:ext cx="825579" cy="151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CRITICAL ISSUE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93790" y="2553295"/>
            <a:ext cx="8599051" cy="434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Current State: Terraform as an Enterprise Bottleneck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793790" y="3133249"/>
            <a:ext cx="13042821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Based on comprehensive incident data and operational analysis conducted across platform and line-of-business teams, a clear pattern of systemic failure has emerged.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93790" y="3500914"/>
            <a:ext cx="4266486" cy="458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89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1714262" y="4101584"/>
            <a:ext cx="2425541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Terraform Incidents Analyzed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93790" y="4376976"/>
            <a:ext cx="4266486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Comprehensive review of failures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181838" y="3500914"/>
            <a:ext cx="4266605" cy="458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$800K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6422588" y="4101584"/>
            <a:ext cx="1784985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Minimum Annual Cost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181838" y="4376976"/>
            <a:ext cx="4266605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Conservative estimate of impact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9570006" y="3500914"/>
            <a:ext cx="4266605" cy="458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$2.5M+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10789325" y="4101584"/>
            <a:ext cx="1827848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Maximum Annual Cost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9570006" y="4376976"/>
            <a:ext cx="4266605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Full enterprise impact model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93790" y="4711779"/>
            <a:ext cx="2760464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Repeated Failure Categories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93790" y="5205532"/>
            <a:ext cx="6351984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0"/>
              </a:lnSpc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management corruption</a:t>
            </a:r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requiring manual recovery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93790" y="5428417"/>
            <a:ext cx="6351984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0"/>
              </a:lnSpc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Pipeline instability</a:t>
            </a:r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causing deployment delays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492246" y="5205532"/>
            <a:ext cx="6351984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0"/>
              </a:lnSpc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Module quality inconsistencies</a:t>
            </a:r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across teams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492246" y="5428417"/>
            <a:ext cx="6351984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0"/>
              </a:lnSpc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Provider and version drift</a:t>
            </a:r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creating compatibility issues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93790" y="5760601"/>
            <a:ext cx="13042821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cumulative effect creates a high support burden across platform engineering and LOB infrastructure teams, draining resources that could be applied to strategic initiatives.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8670" y="542211"/>
            <a:ext cx="11062216" cy="462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9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The Core Problem: Technical Deficiencies in Terraform Adoption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88670" y="1281470"/>
            <a:ext cx="2218373" cy="277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What's Missing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954066" y="1683425"/>
            <a:ext cx="15240" cy="5879782"/>
          </a:xfrm>
          <a:prstGeom prst="roundRect">
            <a:avLst>
              <a:gd name="adj" fmla="val 407591"/>
            </a:avLst>
          </a:prstGeom>
          <a:solidFill>
            <a:srgbClr val="957C2C"/>
          </a:solidFill>
          <a:ln/>
        </p:spPr>
      </p:sp>
      <p:sp>
        <p:nvSpPr>
          <p:cNvPr id="5" name="Shape 3"/>
          <p:cNvSpPr/>
          <p:nvPr/>
        </p:nvSpPr>
        <p:spPr>
          <a:xfrm>
            <a:off x="3681174" y="1842135"/>
            <a:ext cx="295751" cy="15240"/>
          </a:xfrm>
          <a:prstGeom prst="roundRect">
            <a:avLst>
              <a:gd name="adj" fmla="val 407591"/>
            </a:avLst>
          </a:prstGeom>
          <a:solidFill>
            <a:srgbClr val="957C2C"/>
          </a:solidFill>
          <a:ln/>
        </p:spPr>
      </p:sp>
      <p:sp>
        <p:nvSpPr>
          <p:cNvPr id="6" name="Shape 4"/>
          <p:cNvSpPr/>
          <p:nvPr/>
        </p:nvSpPr>
        <p:spPr>
          <a:xfrm>
            <a:off x="3906262" y="1794331"/>
            <a:ext cx="110847" cy="110847"/>
          </a:xfrm>
          <a:prstGeom prst="roundRect">
            <a:avLst>
              <a:gd name="adj" fmla="val 412460"/>
            </a:avLst>
          </a:prstGeom>
          <a:solidFill>
            <a:srgbClr val="AF9646"/>
          </a:solidFill>
          <a:ln/>
        </p:spPr>
      </p:sp>
      <p:sp>
        <p:nvSpPr>
          <p:cNvPr id="7" name="Text 5"/>
          <p:cNvSpPr/>
          <p:nvPr/>
        </p:nvSpPr>
        <p:spPr>
          <a:xfrm>
            <a:off x="1059418" y="1734145"/>
            <a:ext cx="2310765" cy="231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Consistent Lifecycle Model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88670" y="2076093"/>
            <a:ext cx="2581513" cy="827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standardized approach for module evolution, versioning, or deprecation. Leads to outdated and unmaintainable infrastructure.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946446" y="2655451"/>
            <a:ext cx="295751" cy="15240"/>
          </a:xfrm>
          <a:prstGeom prst="roundRect">
            <a:avLst>
              <a:gd name="adj" fmla="val 407591"/>
            </a:avLst>
          </a:prstGeom>
          <a:solidFill>
            <a:srgbClr val="957C2C"/>
          </a:solidFill>
          <a:ln/>
        </p:spPr>
      </p:sp>
      <p:sp>
        <p:nvSpPr>
          <p:cNvPr id="10" name="Shape 8"/>
          <p:cNvSpPr/>
          <p:nvPr/>
        </p:nvSpPr>
        <p:spPr>
          <a:xfrm>
            <a:off x="3906262" y="2607647"/>
            <a:ext cx="110847" cy="110847"/>
          </a:xfrm>
          <a:prstGeom prst="roundRect">
            <a:avLst>
              <a:gd name="adj" fmla="val 412460"/>
            </a:avLst>
          </a:prstGeom>
          <a:solidFill>
            <a:srgbClr val="AF9646"/>
          </a:solidFill>
          <a:ln/>
        </p:spPr>
      </p:sp>
      <p:sp>
        <p:nvSpPr>
          <p:cNvPr id="11" name="Text 9"/>
          <p:cNvSpPr/>
          <p:nvPr/>
        </p:nvSpPr>
        <p:spPr>
          <a:xfrm>
            <a:off x="4553188" y="2547461"/>
            <a:ext cx="2399467" cy="231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Enforced Module Standards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53188" y="2889409"/>
            <a:ext cx="2581632" cy="10346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Quality varies due to lack of centralized guidelines, automated linting, or security scanning. Allows vulnerable modules and extensive manual review.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81174" y="3479959"/>
            <a:ext cx="295751" cy="15240"/>
          </a:xfrm>
          <a:prstGeom prst="roundRect">
            <a:avLst>
              <a:gd name="adj" fmla="val 407591"/>
            </a:avLst>
          </a:prstGeom>
          <a:solidFill>
            <a:srgbClr val="957C2C"/>
          </a:solidFill>
          <a:ln/>
        </p:spPr>
      </p:sp>
      <p:sp>
        <p:nvSpPr>
          <p:cNvPr id="14" name="Shape 12"/>
          <p:cNvSpPr/>
          <p:nvPr/>
        </p:nvSpPr>
        <p:spPr>
          <a:xfrm>
            <a:off x="3906262" y="3432155"/>
            <a:ext cx="110847" cy="110847"/>
          </a:xfrm>
          <a:prstGeom prst="roundRect">
            <a:avLst>
              <a:gd name="adj" fmla="val 412460"/>
            </a:avLst>
          </a:prstGeom>
          <a:solidFill>
            <a:srgbClr val="AF9646"/>
          </a:solidFill>
          <a:ln/>
        </p:spPr>
      </p:sp>
      <p:sp>
        <p:nvSpPr>
          <p:cNvPr id="15" name="Text 13"/>
          <p:cNvSpPr/>
          <p:nvPr/>
        </p:nvSpPr>
        <p:spPr>
          <a:xfrm>
            <a:off x="917853" y="3371969"/>
            <a:ext cx="2452330" cy="231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Predictable Repo Structures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88670" y="3713917"/>
            <a:ext cx="2581513" cy="827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Inconsistent repository organization impedes onboarding and resource discovery. Slows development and obstructs shared tooling.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946446" y="4304586"/>
            <a:ext cx="295751" cy="15240"/>
          </a:xfrm>
          <a:prstGeom prst="roundRect">
            <a:avLst>
              <a:gd name="adj" fmla="val 407591"/>
            </a:avLst>
          </a:prstGeom>
          <a:solidFill>
            <a:srgbClr val="957C2C"/>
          </a:solidFill>
          <a:ln/>
        </p:spPr>
      </p:sp>
      <p:sp>
        <p:nvSpPr>
          <p:cNvPr id="18" name="Shape 16"/>
          <p:cNvSpPr/>
          <p:nvPr/>
        </p:nvSpPr>
        <p:spPr>
          <a:xfrm>
            <a:off x="3906262" y="4256782"/>
            <a:ext cx="110847" cy="110847"/>
          </a:xfrm>
          <a:prstGeom prst="roundRect">
            <a:avLst>
              <a:gd name="adj" fmla="val 412460"/>
            </a:avLst>
          </a:prstGeom>
          <a:solidFill>
            <a:srgbClr val="AF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4553188" y="4196596"/>
            <a:ext cx="2229445" cy="231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Validated Inputs/Outputs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553188" y="4538543"/>
            <a:ext cx="2581632" cy="827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Module interface contracts are often undefined. Lack of schema validation causes silent failures and breaking changes.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681174" y="5032415"/>
            <a:ext cx="295751" cy="15240"/>
          </a:xfrm>
          <a:prstGeom prst="roundRect">
            <a:avLst>
              <a:gd name="adj" fmla="val 407591"/>
            </a:avLst>
          </a:prstGeom>
          <a:solidFill>
            <a:srgbClr val="957C2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06262" y="4984611"/>
            <a:ext cx="110847" cy="110847"/>
          </a:xfrm>
          <a:prstGeom prst="roundRect">
            <a:avLst>
              <a:gd name="adj" fmla="val 412460"/>
            </a:avLst>
          </a:prstGeom>
          <a:solidFill>
            <a:srgbClr val="AF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877372" y="4924425"/>
            <a:ext cx="2492812" cy="231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Machine-Readable Metadata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88670" y="5266373"/>
            <a:ext cx="2581513" cy="827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Critical infrastructure info is siloed in tribal knowledge. Prevents automated governance, auditing, and cost attribution.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946446" y="5760244"/>
            <a:ext cx="295751" cy="15240"/>
          </a:xfrm>
          <a:prstGeom prst="roundRect">
            <a:avLst>
              <a:gd name="adj" fmla="val 407591"/>
            </a:avLst>
          </a:prstGeom>
          <a:solidFill>
            <a:srgbClr val="957C2C"/>
          </a:solidFill>
          <a:ln/>
        </p:spPr>
      </p:sp>
      <p:sp>
        <p:nvSpPr>
          <p:cNvPr id="26" name="Shape 24"/>
          <p:cNvSpPr/>
          <p:nvPr/>
        </p:nvSpPr>
        <p:spPr>
          <a:xfrm>
            <a:off x="3906262" y="5712440"/>
            <a:ext cx="110847" cy="110847"/>
          </a:xfrm>
          <a:prstGeom prst="roundRect">
            <a:avLst>
              <a:gd name="adj" fmla="val 412460"/>
            </a:avLst>
          </a:prstGeom>
          <a:solidFill>
            <a:srgbClr val="AF9646"/>
          </a:solidFill>
          <a:ln/>
        </p:spPr>
      </p:sp>
      <p:sp>
        <p:nvSpPr>
          <p:cNvPr id="27" name="Text 25"/>
          <p:cNvSpPr/>
          <p:nvPr/>
        </p:nvSpPr>
        <p:spPr>
          <a:xfrm>
            <a:off x="4553188" y="5652254"/>
            <a:ext cx="2080498" cy="231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Dependency Awareness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553188" y="5994202"/>
            <a:ext cx="2581632" cy="827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Lack of automated dependency visualization leads to accidental breaking changes and prolonged outage investigations.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681174" y="6488073"/>
            <a:ext cx="295751" cy="15240"/>
          </a:xfrm>
          <a:prstGeom prst="roundRect">
            <a:avLst>
              <a:gd name="adj" fmla="val 407591"/>
            </a:avLst>
          </a:prstGeom>
          <a:solidFill>
            <a:srgbClr val="957C2C"/>
          </a:solidFill>
          <a:ln/>
        </p:spPr>
      </p:sp>
      <p:sp>
        <p:nvSpPr>
          <p:cNvPr id="30" name="Shape 28"/>
          <p:cNvSpPr/>
          <p:nvPr/>
        </p:nvSpPr>
        <p:spPr>
          <a:xfrm>
            <a:off x="3906262" y="6440269"/>
            <a:ext cx="110847" cy="110847"/>
          </a:xfrm>
          <a:prstGeom prst="roundRect">
            <a:avLst>
              <a:gd name="adj" fmla="val 412460"/>
            </a:avLst>
          </a:prstGeom>
          <a:solidFill>
            <a:srgbClr val="AF9646"/>
          </a:solidFill>
          <a:ln/>
        </p:spPr>
      </p:sp>
      <p:sp>
        <p:nvSpPr>
          <p:cNvPr id="31" name="Text 29"/>
          <p:cNvSpPr/>
          <p:nvPr/>
        </p:nvSpPr>
        <p:spPr>
          <a:xfrm>
            <a:off x="1239203" y="6380083"/>
            <a:ext cx="2130981" cy="231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Version Impact Visibility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88670" y="6722031"/>
            <a:ext cx="2581513" cy="827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Unknown consequences from version changes. Teams delay updates, causing significant version drift and higher outage risk.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503200" y="1281470"/>
            <a:ext cx="2218373" cy="277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What This Creates</a:t>
            </a:r>
            <a:endParaRPr lang="en-US" sz="170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3200" y="1683425"/>
            <a:ext cx="2327791" cy="1438632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7503200" y="3232904"/>
            <a:ext cx="1848683" cy="231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Fragile Pipelines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7503200" y="3574852"/>
            <a:ext cx="3103721" cy="827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Deployments fail unpredictably due to configuration discrepancies. Leads to prolonged recovery and constant manual intervention.</a:t>
            </a:r>
            <a:endParaRPr lang="en-US" sz="1150" dirty="0"/>
          </a:p>
        </p:txBody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5510" y="1683425"/>
            <a:ext cx="2327791" cy="1438632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10745510" y="3232904"/>
            <a:ext cx="1848683" cy="231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Manual Recovery</a:t>
            </a:r>
            <a:endParaRPr lang="en-US" sz="1450" dirty="0"/>
          </a:p>
        </p:txBody>
      </p:sp>
      <p:sp>
        <p:nvSpPr>
          <p:cNvPr id="39" name="Text 35"/>
          <p:cNvSpPr/>
          <p:nvPr/>
        </p:nvSpPr>
        <p:spPr>
          <a:xfrm>
            <a:off x="10745510" y="3574852"/>
            <a:ext cx="3103840" cy="827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Failures demand engineers spend days analyzing logs and fixing corrupted infrastructure. Creates high operational overhead and extends downtime.</a:t>
            </a:r>
            <a:endParaRPr lang="en-US" sz="1150" dirty="0"/>
          </a:p>
        </p:txBody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200" y="4624388"/>
            <a:ext cx="2327791" cy="1438632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7503200" y="6173867"/>
            <a:ext cx="1848683" cy="231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Tribal Knowledge</a:t>
            </a:r>
            <a:endParaRPr lang="en-US" sz="1450" dirty="0"/>
          </a:p>
        </p:txBody>
      </p:sp>
      <p:sp>
        <p:nvSpPr>
          <p:cNvPr id="42" name="Text 37"/>
          <p:cNvSpPr/>
          <p:nvPr/>
        </p:nvSpPr>
        <p:spPr>
          <a:xfrm>
            <a:off x="7503200" y="6515814"/>
            <a:ext cx="3103721" cy="620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Critical expertise is confined to a few individuals. Creates single points of failure and hinders knowledge transfer.</a:t>
            </a:r>
            <a:endParaRPr lang="en-US" sz="1150" dirty="0"/>
          </a:p>
        </p:txBody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5510" y="4624388"/>
            <a:ext cx="2327791" cy="1438632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10745510" y="6173867"/>
            <a:ext cx="2211705" cy="231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Slow Service Enablement</a:t>
            </a:r>
            <a:endParaRPr lang="en-US" sz="1450" dirty="0"/>
          </a:p>
        </p:txBody>
      </p:sp>
      <p:sp>
        <p:nvSpPr>
          <p:cNvPr id="45" name="Text 39"/>
          <p:cNvSpPr/>
          <p:nvPr/>
        </p:nvSpPr>
        <p:spPr>
          <a:xfrm>
            <a:off x="10745510" y="6515814"/>
            <a:ext cx="3103840" cy="620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Provisioning new environments takes weeks due to inconsistent practices and manual bottlenecks. Impacts product launch cycles.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1786057"/>
            <a:ext cx="1422797" cy="213598"/>
          </a:xfrm>
          <a:prstGeom prst="roundRect">
            <a:avLst>
              <a:gd name="adj" fmla="val 20294"/>
            </a:avLst>
          </a:prstGeom>
          <a:solidFill>
            <a:srgbClr val="E6F3E6"/>
          </a:solidFill>
          <a:ln/>
        </p:spPr>
      </p:sp>
      <p:sp>
        <p:nvSpPr>
          <p:cNvPr id="3" name="Text 1"/>
          <p:cNvSpPr/>
          <p:nvPr/>
        </p:nvSpPr>
        <p:spPr>
          <a:xfrm>
            <a:off x="871180" y="1824752"/>
            <a:ext cx="1268016" cy="136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SOLUTION 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93790" y="2033111"/>
            <a:ext cx="6948488" cy="403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Terraform Foundations: What We Are Building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93790" y="2561987"/>
            <a:ext cx="13042821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We are developing a comprehensive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Terraform Lifecycle Management (TFLM)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foundation to address critical technical deficiencies in Terraform adoption. TFLM is an enterprise-wide framework establishing standards and processes for how infrastructure-as-code is created, validated, versioned, and evolved. This foundation aims to transform ad-hoc Terraform usage into a robust, scalable, and secure operational model.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93790" y="2996803"/>
            <a:ext cx="4291727" cy="1506379"/>
          </a:xfrm>
          <a:prstGeom prst="roundRect">
            <a:avLst>
              <a:gd name="adj" fmla="val 3597"/>
            </a:avLst>
          </a:prstGeom>
          <a:solidFill>
            <a:srgbClr val="DDEEDD"/>
          </a:solidFill>
          <a:ln w="7620">
            <a:solidFill>
              <a:srgbClr val="D2BE9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0354" y="3133368"/>
            <a:ext cx="386953" cy="386953"/>
          </a:xfrm>
          <a:prstGeom prst="roundRect">
            <a:avLst>
              <a:gd name="adj" fmla="val 23628414"/>
            </a:avLst>
          </a:prstGeom>
          <a:solidFill>
            <a:srgbClr val="D2BE9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6796" y="3239810"/>
            <a:ext cx="174069" cy="17406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0354" y="3604141"/>
            <a:ext cx="2492097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How Terraform modules are built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0354" y="3855839"/>
            <a:ext cx="4018598" cy="510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Standardized structure and composition patterns ensure every module adheres to consistent conventions, promoting reuse and simplifying onboarding.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169337" y="2996803"/>
            <a:ext cx="4291727" cy="1506379"/>
          </a:xfrm>
          <a:prstGeom prst="roundRect">
            <a:avLst>
              <a:gd name="adj" fmla="val 3597"/>
            </a:avLst>
          </a:prstGeom>
          <a:solidFill>
            <a:srgbClr val="DDEEDD"/>
          </a:solidFill>
          <a:ln w="7620">
            <a:solidFill>
              <a:srgbClr val="D2BE9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05901" y="3133368"/>
            <a:ext cx="386953" cy="386953"/>
          </a:xfrm>
          <a:prstGeom prst="roundRect">
            <a:avLst>
              <a:gd name="adj" fmla="val 23628414"/>
            </a:avLst>
          </a:prstGeom>
          <a:solidFill>
            <a:srgbClr val="D2BE9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2343" y="3239810"/>
            <a:ext cx="174069" cy="1740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05901" y="3604141"/>
            <a:ext cx="1746290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How they are validated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5305901" y="3855839"/>
            <a:ext cx="4018598" cy="510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Automated quality gates ensure every module meets predefined security, compliance, and operational standards before deployment. All results are auditable.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9544883" y="2996803"/>
            <a:ext cx="4291727" cy="1506379"/>
          </a:xfrm>
          <a:prstGeom prst="roundRect">
            <a:avLst>
              <a:gd name="adj" fmla="val 3597"/>
            </a:avLst>
          </a:prstGeom>
          <a:solidFill>
            <a:srgbClr val="DDEEDD"/>
          </a:solidFill>
          <a:ln w="7620">
            <a:solidFill>
              <a:srgbClr val="D2BE9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681448" y="3133368"/>
            <a:ext cx="386953" cy="386953"/>
          </a:xfrm>
          <a:prstGeom prst="roundRect">
            <a:avLst>
              <a:gd name="adj" fmla="val 23628414"/>
            </a:avLst>
          </a:prstGeom>
          <a:solidFill>
            <a:srgbClr val="D2BE9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7890" y="3239810"/>
            <a:ext cx="174069" cy="17406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681448" y="3604141"/>
            <a:ext cx="1733550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How they evolve safely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9681448" y="3855839"/>
            <a:ext cx="4018598" cy="510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Controlled versioning with impact analysis allows teams to manage module changes confidently, reducing fear of upgrading and minimizing breaking changes.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793790" y="4587002"/>
            <a:ext cx="6479500" cy="1336119"/>
          </a:xfrm>
          <a:prstGeom prst="roundRect">
            <a:avLst>
              <a:gd name="adj" fmla="val 4055"/>
            </a:avLst>
          </a:prstGeom>
          <a:solidFill>
            <a:srgbClr val="DDEEDD"/>
          </a:solidFill>
          <a:ln w="7620">
            <a:solidFill>
              <a:srgbClr val="D2BE91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30354" y="4723567"/>
            <a:ext cx="386953" cy="386953"/>
          </a:xfrm>
          <a:prstGeom prst="roundRect">
            <a:avLst>
              <a:gd name="adj" fmla="val 23628414"/>
            </a:avLst>
          </a:prstGeom>
          <a:solidFill>
            <a:srgbClr val="D2BE91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36796" y="4830008"/>
            <a:ext cx="174069" cy="17406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30354" y="5194340"/>
            <a:ext cx="2338745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How dependencies are tracked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930354" y="5446038"/>
            <a:ext cx="6206371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Explicit relationship mapping creates a machine-readable understanding of how infrastructure components interconnect, preventing accidental modifications.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357110" y="4587002"/>
            <a:ext cx="6479500" cy="1336119"/>
          </a:xfrm>
          <a:prstGeom prst="roundRect">
            <a:avLst>
              <a:gd name="adj" fmla="val 4055"/>
            </a:avLst>
          </a:prstGeom>
          <a:solidFill>
            <a:srgbClr val="DDEEDD"/>
          </a:solidFill>
          <a:ln w="7620">
            <a:solidFill>
              <a:srgbClr val="D2BE91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493675" y="4723567"/>
            <a:ext cx="386953" cy="386953"/>
          </a:xfrm>
          <a:prstGeom prst="roundRect">
            <a:avLst>
              <a:gd name="adj" fmla="val 23628414"/>
            </a:avLst>
          </a:prstGeom>
          <a:solidFill>
            <a:srgbClr val="D2BE91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600117" y="4830008"/>
            <a:ext cx="174069" cy="174069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493675" y="5194340"/>
            <a:ext cx="2136100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How standards are enforced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7493675" y="5446038"/>
            <a:ext cx="6206371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Policy-as-code with automated compliance ensures all infrastructure deployments adhere to organizational governance, security, and cost policies.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793790" y="6017419"/>
            <a:ext cx="13042821" cy="426006"/>
          </a:xfrm>
          <a:prstGeom prst="roundRect">
            <a:avLst>
              <a:gd name="adj" fmla="val 12719"/>
            </a:avLst>
          </a:prstGeom>
          <a:solidFill>
            <a:srgbClr val="D2BE91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2734" y="6195179"/>
            <a:ext cx="161211" cy="128945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212890" y="6133386"/>
            <a:ext cx="12494776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becomes the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system of record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for infrastructure enablement across the entire enterprise.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2110978"/>
            <a:ext cx="842010" cy="213598"/>
          </a:xfrm>
          <a:prstGeom prst="roundRect">
            <a:avLst>
              <a:gd name="adj" fmla="val 20294"/>
            </a:avLst>
          </a:prstGeom>
          <a:solidFill>
            <a:srgbClr val="E6F3E6"/>
          </a:solidFill>
          <a:ln/>
        </p:spPr>
      </p:sp>
      <p:sp>
        <p:nvSpPr>
          <p:cNvPr id="3" name="Text 1"/>
          <p:cNvSpPr/>
          <p:nvPr/>
        </p:nvSpPr>
        <p:spPr>
          <a:xfrm>
            <a:off x="871180" y="2149673"/>
            <a:ext cx="687229" cy="136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 PILLARS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93790" y="2358033"/>
            <a:ext cx="5546050" cy="403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Terraform Foundations – Core Pillars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93790" y="2886908"/>
            <a:ext cx="13042821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interconnected pillars form the architectural foundation, each reducing operational risk while simultaneously increasing the system's ability to support advanced reasoning capabilities.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103959" y="3370421"/>
            <a:ext cx="2598658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Standardized Module Architecture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3790" y="3622119"/>
            <a:ext cx="4908828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Consistent structure and interfaces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1562" y="3151465"/>
            <a:ext cx="2967157" cy="2967157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99290" y="3639026"/>
            <a:ext cx="193000" cy="1930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927663" y="3370421"/>
            <a:ext cx="213324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Consistent Repo Archetypes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927663" y="3622119"/>
            <a:ext cx="4908947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Predictable organization patterns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1562" y="3151465"/>
            <a:ext cx="2967157" cy="2967157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37753" y="3639026"/>
            <a:ext cx="193000" cy="1930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056727" y="4424005"/>
            <a:ext cx="1973104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Schema-Driven Validation</a:t>
            </a:r>
            <a:endParaRPr lang="en-US" sz="1250" dirty="0"/>
          </a:p>
        </p:txBody>
      </p:sp>
      <p:sp>
        <p:nvSpPr>
          <p:cNvPr id="15" name="Text 9"/>
          <p:cNvSpPr/>
          <p:nvPr/>
        </p:nvSpPr>
        <p:spPr>
          <a:xfrm>
            <a:off x="9056727" y="4675703"/>
            <a:ext cx="4779883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Automated quality enforcement</a:t>
            </a:r>
            <a:endParaRPr lang="en-US" sz="10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31562" y="3151465"/>
            <a:ext cx="2967157" cy="2967157"/>
          </a:xfrm>
          <a:prstGeom prst="rect">
            <a:avLst/>
          </a:prstGeom>
        </p:spPr>
      </p:pic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56984" y="4538424"/>
            <a:ext cx="193000" cy="19300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927663" y="5477589"/>
            <a:ext cx="1784985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Automated Governance</a:t>
            </a:r>
            <a:endParaRPr lang="en-US" sz="1250" dirty="0"/>
          </a:p>
        </p:txBody>
      </p:sp>
      <p:sp>
        <p:nvSpPr>
          <p:cNvPr id="19" name="Text 11"/>
          <p:cNvSpPr/>
          <p:nvPr/>
        </p:nvSpPr>
        <p:spPr>
          <a:xfrm>
            <a:off x="8927663" y="5729288"/>
            <a:ext cx="4908947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Policy enforcement without friction</a:t>
            </a:r>
            <a:endParaRPr lang="en-US" sz="10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31562" y="3151465"/>
            <a:ext cx="2967157" cy="2967157"/>
          </a:xfrm>
          <a:prstGeom prst="rect">
            <a:avLst/>
          </a:prstGeom>
        </p:spPr>
      </p:pic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37753" y="5437822"/>
            <a:ext cx="193000" cy="193000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3527822" y="5477589"/>
            <a:ext cx="2174796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Machine-Readable Metadata</a:t>
            </a:r>
            <a:endParaRPr lang="en-US" sz="1250" dirty="0"/>
          </a:p>
        </p:txBody>
      </p:sp>
      <p:sp>
        <p:nvSpPr>
          <p:cNvPr id="23" name="Text 13"/>
          <p:cNvSpPr/>
          <p:nvPr/>
        </p:nvSpPr>
        <p:spPr>
          <a:xfrm>
            <a:off x="793790" y="5729288"/>
            <a:ext cx="4908828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Structured, queryable information</a:t>
            </a:r>
            <a:endParaRPr lang="en-US" sz="1000" dirty="0"/>
          </a:p>
        </p:txBody>
      </p:sp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31562" y="3151465"/>
            <a:ext cx="2967157" cy="2967157"/>
          </a:xfrm>
          <a:prstGeom prst="rect">
            <a:avLst/>
          </a:prstGeom>
        </p:spPr>
      </p:pic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99290" y="5437822"/>
            <a:ext cx="193000" cy="193000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3960971" y="4424005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AI-Ready Artifacts</a:t>
            </a:r>
            <a:endParaRPr lang="en-US" sz="1250" dirty="0"/>
          </a:p>
        </p:txBody>
      </p:sp>
      <p:sp>
        <p:nvSpPr>
          <p:cNvPr id="27" name="Text 15"/>
          <p:cNvSpPr/>
          <p:nvPr/>
        </p:nvSpPr>
        <p:spPr>
          <a:xfrm>
            <a:off x="793790" y="4675703"/>
            <a:ext cx="477976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 for intelligent systems</a:t>
            </a:r>
            <a:endParaRPr lang="en-US" sz="1000" dirty="0"/>
          </a:p>
        </p:txBody>
      </p:sp>
      <p:pic>
        <p:nvPicPr>
          <p:cNvPr id="28" name="Image 10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31562" y="3151465"/>
            <a:ext cx="2967157" cy="2967157"/>
          </a:xfrm>
          <a:prstGeom prst="rect">
            <a:avLst/>
          </a:prstGeom>
        </p:spPr>
      </p:pic>
      <p:pic>
        <p:nvPicPr>
          <p:cNvPr id="29" name="Image 11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180058" y="4538424"/>
            <a:ext cx="193000" cy="193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583525"/>
            <a:ext cx="716518" cy="278130"/>
          </a:xfrm>
          <a:prstGeom prst="roundRect">
            <a:avLst>
              <a:gd name="adj" fmla="val 19182"/>
            </a:avLst>
          </a:prstGeom>
          <a:solidFill>
            <a:srgbClr val="E6F3E6"/>
          </a:solidFill>
          <a:ln/>
        </p:spPr>
      </p:sp>
      <p:sp>
        <p:nvSpPr>
          <p:cNvPr id="3" name="Text 1"/>
          <p:cNvSpPr/>
          <p:nvPr/>
        </p:nvSpPr>
        <p:spPr>
          <a:xfrm>
            <a:off x="889040" y="631150"/>
            <a:ext cx="5260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PILLAR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93790" y="912376"/>
            <a:ext cx="8340685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Standardized Terraform Module Architecture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93790" y="1713309"/>
            <a:ext cx="6999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All Terraform services across the enterprise are built as well-defined modules following a consistent architectural pattern that ensures predictability, maintainability, and safe composition.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93790" y="2297430"/>
            <a:ext cx="2485549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Required Components</a:t>
            </a:r>
            <a:endParaRPr lang="en-US" sz="1850" dirty="0"/>
          </a:p>
        </p:txBody>
      </p:sp>
      <p:sp>
        <p:nvSpPr>
          <p:cNvPr id="7" name="Shape 5"/>
          <p:cNvSpPr/>
          <p:nvPr/>
        </p:nvSpPr>
        <p:spPr>
          <a:xfrm>
            <a:off x="793790" y="2822258"/>
            <a:ext cx="79296" cy="79296"/>
          </a:xfrm>
          <a:prstGeom prst="roundRect">
            <a:avLst>
              <a:gd name="adj" fmla="val 576574"/>
            </a:avLst>
          </a:prstGeom>
          <a:solidFill>
            <a:srgbClr val="E6F3E6"/>
          </a:solidFill>
          <a:ln/>
        </p:spPr>
      </p:sp>
      <p:sp>
        <p:nvSpPr>
          <p:cNvPr id="8" name="Text 6"/>
          <p:cNvSpPr/>
          <p:nvPr/>
        </p:nvSpPr>
        <p:spPr>
          <a:xfrm>
            <a:off x="1000006" y="2737961"/>
            <a:ext cx="2533650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Defined inputs and outputs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000006" y="3112889"/>
            <a:ext cx="67929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Explicit interface contracts with type validation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3790" y="3679746"/>
            <a:ext cx="79296" cy="79296"/>
          </a:xfrm>
          <a:prstGeom prst="roundRect">
            <a:avLst>
              <a:gd name="adj" fmla="val 576574"/>
            </a:avLst>
          </a:prstGeom>
          <a:solidFill>
            <a:srgbClr val="E6F3E6"/>
          </a:solidFill>
          <a:ln/>
        </p:spPr>
      </p:sp>
      <p:sp>
        <p:nvSpPr>
          <p:cNvPr id="11" name="Text 9"/>
          <p:cNvSpPr/>
          <p:nvPr/>
        </p:nvSpPr>
        <p:spPr>
          <a:xfrm>
            <a:off x="1000006" y="3595449"/>
            <a:ext cx="2324457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Required version pinning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000006" y="3970377"/>
            <a:ext cx="67929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Terraform and provider versions explicitly specified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3790" y="4537234"/>
            <a:ext cx="79296" cy="79296"/>
          </a:xfrm>
          <a:prstGeom prst="roundRect">
            <a:avLst>
              <a:gd name="adj" fmla="val 576574"/>
            </a:avLst>
          </a:prstGeom>
          <a:solidFill>
            <a:srgbClr val="E6F3E6"/>
          </a:solidFill>
          <a:ln/>
        </p:spPr>
      </p:sp>
      <p:sp>
        <p:nvSpPr>
          <p:cNvPr id="14" name="Text 12"/>
          <p:cNvSpPr/>
          <p:nvPr/>
        </p:nvSpPr>
        <p:spPr>
          <a:xfrm>
            <a:off x="1000006" y="4452938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Provider constraints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000006" y="4827865"/>
            <a:ext cx="67929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Compatible provider versions documented and enforced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3790" y="5394722"/>
            <a:ext cx="79296" cy="79296"/>
          </a:xfrm>
          <a:prstGeom prst="roundRect">
            <a:avLst>
              <a:gd name="adj" fmla="val 576574"/>
            </a:avLst>
          </a:prstGeom>
          <a:solidFill>
            <a:srgbClr val="E6F3E6"/>
          </a:solidFill>
          <a:ln/>
        </p:spPr>
      </p:sp>
      <p:sp>
        <p:nvSpPr>
          <p:cNvPr id="17" name="Text 15"/>
          <p:cNvSpPr/>
          <p:nvPr/>
        </p:nvSpPr>
        <p:spPr>
          <a:xfrm>
            <a:off x="1000006" y="5310426"/>
            <a:ext cx="205442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Explicit dependencies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000006" y="5685353"/>
            <a:ext cx="67929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All module relationships clearly declared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3790" y="6252210"/>
            <a:ext cx="79296" cy="79296"/>
          </a:xfrm>
          <a:prstGeom prst="roundRect">
            <a:avLst>
              <a:gd name="adj" fmla="val 576574"/>
            </a:avLst>
          </a:prstGeom>
          <a:solidFill>
            <a:srgbClr val="E6F3E6"/>
          </a:solidFill>
          <a:ln/>
        </p:spPr>
      </p:sp>
      <p:sp>
        <p:nvSpPr>
          <p:cNvPr id="20" name="Text 18"/>
          <p:cNvSpPr/>
          <p:nvPr/>
        </p:nvSpPr>
        <p:spPr>
          <a:xfrm>
            <a:off x="1000006" y="6167914"/>
            <a:ext cx="204870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Documented behavior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000006" y="6542842"/>
            <a:ext cx="67929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Human-readable docs + machine-readable metadata</a:t>
            </a:r>
            <a:endParaRPr lang="en-US" sz="12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56690" y="1741884"/>
            <a:ext cx="4518541" cy="4518541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793790" y="7057192"/>
            <a:ext cx="13042821" cy="588764"/>
          </a:xfrm>
          <a:prstGeom prst="roundRect">
            <a:avLst>
              <a:gd name="adj" fmla="val 11327"/>
            </a:avLst>
          </a:prstGeom>
          <a:solidFill>
            <a:srgbClr val="D2BE91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7284244"/>
            <a:ext cx="198358" cy="15871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309568" y="7223760"/>
            <a:ext cx="1236833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Modules are composed by root configurations — never ad hoc or directly modified.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1304568"/>
            <a:ext cx="582097" cy="213598"/>
          </a:xfrm>
          <a:prstGeom prst="roundRect">
            <a:avLst>
              <a:gd name="adj" fmla="val 20294"/>
            </a:avLst>
          </a:prstGeom>
          <a:solidFill>
            <a:srgbClr val="E6F3E6"/>
          </a:solidFill>
          <a:ln/>
        </p:spPr>
      </p:sp>
      <p:sp>
        <p:nvSpPr>
          <p:cNvPr id="3" name="Text 1"/>
          <p:cNvSpPr/>
          <p:nvPr/>
        </p:nvSpPr>
        <p:spPr>
          <a:xfrm>
            <a:off x="871180" y="1343263"/>
            <a:ext cx="427315" cy="136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93790" y="1551623"/>
            <a:ext cx="4222433" cy="403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Repo Archetypes (Enforced)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93790" y="2080498"/>
            <a:ext cx="13042821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repository in the enterprise declares its archetype, establishing a contract that determines structure, validation requirements, and expected behaviors.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93790" y="2345055"/>
            <a:ext cx="13042821" cy="77402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E6F3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9030" y="2360295"/>
            <a:ext cx="516017" cy="743545"/>
          </a:xfrm>
          <a:prstGeom prst="roundRect">
            <a:avLst>
              <a:gd name="adj" fmla="val 6956"/>
            </a:avLst>
          </a:prstGeom>
          <a:solidFill>
            <a:srgbClr val="E6F3E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6430" y="2635329"/>
            <a:ext cx="193477" cy="19347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08867" y="2489240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Terraform Module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408867" y="2740938"/>
            <a:ext cx="1228355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Reusable infrastructure components with defined inputs, outputs, and dependencies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93790" y="3202900"/>
            <a:ext cx="13042821" cy="77402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CCE8C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9030" y="3218140"/>
            <a:ext cx="516017" cy="743545"/>
          </a:xfrm>
          <a:prstGeom prst="roundRect">
            <a:avLst>
              <a:gd name="adj" fmla="val 6956"/>
            </a:avLst>
          </a:prstGeom>
          <a:solidFill>
            <a:srgbClr val="CCE8C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6430" y="3493175"/>
            <a:ext cx="193477" cy="19347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08867" y="3347085"/>
            <a:ext cx="2240042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Terraform Root / Composition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408867" y="3598783"/>
            <a:ext cx="1228355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Orchestration layer that combines modules into complete environments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93790" y="4060746"/>
            <a:ext cx="13042821" cy="77402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D2BE9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09030" y="4075986"/>
            <a:ext cx="516017" cy="743545"/>
          </a:xfrm>
          <a:prstGeom prst="roundRect">
            <a:avLst>
              <a:gd name="adj" fmla="val 6956"/>
            </a:avLst>
          </a:prstGeom>
          <a:solidFill>
            <a:srgbClr val="D2BE9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6430" y="4351020"/>
            <a:ext cx="193477" cy="19347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08867" y="4204930"/>
            <a:ext cx="2236351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Terraform Metadata / Catalog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408867" y="4456628"/>
            <a:ext cx="1228355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Service registry and metadata repository for discovery and reasoning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793790" y="4918591"/>
            <a:ext cx="13042821" cy="77402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AF964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09030" y="4933831"/>
            <a:ext cx="516017" cy="743545"/>
          </a:xfrm>
          <a:prstGeom prst="roundRect">
            <a:avLst>
              <a:gd name="adj" fmla="val 6956"/>
            </a:avLst>
          </a:prstGeom>
          <a:solidFill>
            <a:srgbClr val="AF9646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6430" y="5208865"/>
            <a:ext cx="193477" cy="193477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08867" y="5062776"/>
            <a:ext cx="2582942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Future: Config, Application, Policy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1408867" y="5314474"/>
            <a:ext cx="1228355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Extensible model ready for additional artifact types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793790" y="5818346"/>
            <a:ext cx="2239566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What Archetypes Enable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793790" y="6261259"/>
            <a:ext cx="63641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Required files: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Standard structure enforced automatically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793790" y="6460807"/>
            <a:ext cx="63641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 rules: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Quality gates specific to archetype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7480102" y="6261259"/>
            <a:ext cx="63641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Allowed behaviors: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Guard rails prevent misuse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7480102" y="6460807"/>
            <a:ext cx="63641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 expectations: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Automated pipeline configuration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793790" y="6754654"/>
            <a:ext cx="13042821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architectural pattern enables consistent automation and systematic reasoning across all infrastructure artifacts.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2213253"/>
            <a:ext cx="627102" cy="234553"/>
          </a:xfrm>
          <a:prstGeom prst="roundRect">
            <a:avLst>
              <a:gd name="adj" fmla="val 19902"/>
            </a:avLst>
          </a:prstGeom>
          <a:solidFill>
            <a:srgbClr val="E6F3E6"/>
          </a:solidFill>
          <a:ln/>
        </p:spPr>
      </p:sp>
      <p:sp>
        <p:nvSpPr>
          <p:cNvPr id="3" name="Text 1"/>
          <p:cNvSpPr/>
          <p:nvPr/>
        </p:nvSpPr>
        <p:spPr>
          <a:xfrm>
            <a:off x="877133" y="2254925"/>
            <a:ext cx="460415" cy="151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PILLAR 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93790" y="2486620"/>
            <a:ext cx="5986582" cy="434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Validation as a First-Class Capability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93790" y="3066574"/>
            <a:ext cx="13042821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piece of Terraform code passes through a comprehensive, automated validation pipeline that produces objective evidence of quality and compliance.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93790" y="3364825"/>
            <a:ext cx="138827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 Light" pitchFamily="34" charset="0"/>
                <a:ea typeface="IBM Plex Sans Light" pitchFamily="34" charset="-122"/>
                <a:cs typeface="IBM Plex Sans Light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93790" y="3585567"/>
            <a:ext cx="4282797" cy="15240"/>
          </a:xfrm>
          <a:prstGeom prst="rect">
            <a:avLst/>
          </a:prstGeom>
          <a:solidFill>
            <a:srgbClr val="E6F3E6"/>
          </a:solidFill>
          <a:ln/>
        </p:spPr>
      </p:sp>
      <p:sp>
        <p:nvSpPr>
          <p:cNvPr id="8" name="Text 6"/>
          <p:cNvSpPr/>
          <p:nvPr/>
        </p:nvSpPr>
        <p:spPr>
          <a:xfrm>
            <a:off x="793790" y="3685461"/>
            <a:ext cx="2248257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Terraform Native Validation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3790" y="3960852"/>
            <a:ext cx="4282797" cy="37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Syntax, type checking, and internal consistency using </a:t>
            </a:r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validate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173742" y="3364825"/>
            <a:ext cx="138827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 Light" pitchFamily="34" charset="0"/>
                <a:ea typeface="IBM Plex Sans Light" pitchFamily="34" charset="-122"/>
                <a:cs typeface="IBM Plex Sans Light" pitchFamily="34" charset="-120"/>
              </a:rPr>
              <a:t>02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173742" y="3585567"/>
            <a:ext cx="4282797" cy="15240"/>
          </a:xfrm>
          <a:prstGeom prst="rect">
            <a:avLst/>
          </a:prstGeom>
          <a:solidFill>
            <a:srgbClr val="E6F3E6"/>
          </a:solidFill>
          <a:ln/>
        </p:spPr>
      </p:sp>
      <p:sp>
        <p:nvSpPr>
          <p:cNvPr id="12" name="Text 10"/>
          <p:cNvSpPr/>
          <p:nvPr/>
        </p:nvSpPr>
        <p:spPr>
          <a:xfrm>
            <a:off x="5173742" y="3685461"/>
            <a:ext cx="2450544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Static Analysis (IaC Scanning)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173742" y="3960852"/>
            <a:ext cx="4282797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Security vulnerabilities, misconfigurations, and policy violations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553694" y="3364825"/>
            <a:ext cx="138827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 Light" pitchFamily="34" charset="0"/>
                <a:ea typeface="IBM Plex Sans Light" pitchFamily="34" charset="-122"/>
                <a:cs typeface="IBM Plex Sans Light" pitchFamily="34" charset="-120"/>
              </a:rPr>
              <a:t>03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553694" y="3585567"/>
            <a:ext cx="4282797" cy="15240"/>
          </a:xfrm>
          <a:prstGeom prst="rect">
            <a:avLst/>
          </a:prstGeom>
          <a:solidFill>
            <a:srgbClr val="E6F3E6"/>
          </a:solidFill>
          <a:ln/>
        </p:spPr>
      </p:sp>
      <p:sp>
        <p:nvSpPr>
          <p:cNvPr id="16" name="Text 14"/>
          <p:cNvSpPr/>
          <p:nvPr/>
        </p:nvSpPr>
        <p:spPr>
          <a:xfrm>
            <a:off x="9553694" y="3685461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Schema Checks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553694" y="3960852"/>
            <a:ext cx="4282797" cy="37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Interface contracts, metadata completeness, and archetype compliance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3790" y="4540091"/>
            <a:ext cx="138827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 Light" pitchFamily="34" charset="0"/>
                <a:ea typeface="IBM Plex Sans Light" pitchFamily="34" charset="-122"/>
                <a:cs typeface="IBM Plex Sans Light" pitchFamily="34" charset="-120"/>
              </a:rPr>
              <a:t>04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93790" y="4760833"/>
            <a:ext cx="6472714" cy="15240"/>
          </a:xfrm>
          <a:prstGeom prst="rect">
            <a:avLst/>
          </a:prstGeom>
          <a:solidFill>
            <a:srgbClr val="E6F3E6"/>
          </a:solidFill>
          <a:ln/>
        </p:spPr>
      </p:sp>
      <p:sp>
        <p:nvSpPr>
          <p:cNvPr id="20" name="Text 18"/>
          <p:cNvSpPr/>
          <p:nvPr/>
        </p:nvSpPr>
        <p:spPr>
          <a:xfrm>
            <a:off x="793790" y="4860727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Dependency Checks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93790" y="5136118"/>
            <a:ext cx="6472714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Version compatibility, breaking changes, and transitive dependencies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363658" y="4540091"/>
            <a:ext cx="138827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 Light" pitchFamily="34" charset="0"/>
                <a:ea typeface="IBM Plex Sans Light" pitchFamily="34" charset="-122"/>
                <a:cs typeface="IBM Plex Sans Light" pitchFamily="34" charset="-120"/>
              </a:rPr>
              <a:t>05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63658" y="4760833"/>
            <a:ext cx="6472833" cy="15240"/>
          </a:xfrm>
          <a:prstGeom prst="rect">
            <a:avLst/>
          </a:prstGeom>
          <a:solidFill>
            <a:srgbClr val="E6F3E6"/>
          </a:solidFill>
          <a:ln/>
        </p:spPr>
      </p:sp>
      <p:sp>
        <p:nvSpPr>
          <p:cNvPr id="24" name="Text 22"/>
          <p:cNvSpPr/>
          <p:nvPr/>
        </p:nvSpPr>
        <p:spPr>
          <a:xfrm>
            <a:off x="7363658" y="4860727"/>
            <a:ext cx="2386727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Version Compatibility Checks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363658" y="5136118"/>
            <a:ext cx="6472833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Provider version ranges, Terraform version requirements, and upgrade paths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93790" y="5538549"/>
            <a:ext cx="13042821" cy="477679"/>
          </a:xfrm>
          <a:prstGeom prst="roundRect">
            <a:avLst>
              <a:gd name="adj" fmla="val 12216"/>
            </a:avLst>
          </a:prstGeom>
          <a:solidFill>
            <a:srgbClr val="E6F3E6"/>
          </a:solidFill>
          <a:ln/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17" y="5735241"/>
            <a:ext cx="173593" cy="138827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245037" y="5670352"/>
            <a:ext cx="12452747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 produces </a:t>
            </a:r>
            <a:pPr algn="l" indent="0" marL="0">
              <a:lnSpc>
                <a:spcPts val="145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evidence</a:t>
            </a:r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not opinions. Results are structured, versioned, and queryable for audit and compliance purposes.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1752600"/>
            <a:ext cx="764262" cy="213598"/>
          </a:xfrm>
          <a:prstGeom prst="roundRect">
            <a:avLst>
              <a:gd name="adj" fmla="val 20294"/>
            </a:avLst>
          </a:prstGeom>
          <a:solidFill>
            <a:srgbClr val="E6F3E6"/>
          </a:solidFill>
          <a:ln/>
        </p:spPr>
      </p:sp>
      <p:sp>
        <p:nvSpPr>
          <p:cNvPr id="3" name="Text 1"/>
          <p:cNvSpPr/>
          <p:nvPr/>
        </p:nvSpPr>
        <p:spPr>
          <a:xfrm>
            <a:off x="871180" y="1791295"/>
            <a:ext cx="609481" cy="136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PILLAR 4 &amp;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93790" y="1999655"/>
            <a:ext cx="4308277" cy="403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Metadata: The Missing Layer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93790" y="2528530"/>
            <a:ext cx="13042821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Terraform artifact—modules, compositions, and configurations—produces rich, structured metadata that answers critical operational questions previously locked in tribal knowledge or scattered documentation.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790" y="2876907"/>
            <a:ext cx="2256473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Key Questions Answered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3790" y="3213021"/>
            <a:ext cx="290155" cy="290155"/>
          </a:xfrm>
          <a:prstGeom prst="roundRect">
            <a:avLst>
              <a:gd name="adj" fmla="val 18674"/>
            </a:avLst>
          </a:prstGeom>
          <a:solidFill>
            <a:srgbClr val="DDEEDD"/>
          </a:solidFill>
          <a:ln w="7620">
            <a:solidFill>
              <a:srgbClr val="C3D4C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7765" y="3257312"/>
            <a:ext cx="204180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What does this module do?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67765" y="3542586"/>
            <a:ext cx="5990153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Purpose, capabilities, and intended use cases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93790" y="3880485"/>
            <a:ext cx="290155" cy="290155"/>
          </a:xfrm>
          <a:prstGeom prst="roundRect">
            <a:avLst>
              <a:gd name="adj" fmla="val 18674"/>
            </a:avLst>
          </a:prstGeom>
          <a:solidFill>
            <a:srgbClr val="DDEEDD"/>
          </a:solidFill>
          <a:ln w="7620">
            <a:solidFill>
              <a:srgbClr val="C3D4C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7765" y="3924776"/>
            <a:ext cx="2271355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What services does it expose?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167765" y="4210050"/>
            <a:ext cx="5990153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APIs, endpoints, and integration points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93790" y="4547949"/>
            <a:ext cx="290155" cy="290155"/>
          </a:xfrm>
          <a:prstGeom prst="roundRect">
            <a:avLst>
              <a:gd name="adj" fmla="val 18674"/>
            </a:avLst>
          </a:prstGeom>
          <a:solidFill>
            <a:srgbClr val="DDEEDD"/>
          </a:solidFill>
          <a:ln w="7620">
            <a:solidFill>
              <a:srgbClr val="C3D4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7765" y="4592241"/>
            <a:ext cx="1987629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What dependencies exist?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67765" y="4877514"/>
            <a:ext cx="5990153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Required modules, providers, and external services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3790" y="5215414"/>
            <a:ext cx="290155" cy="290155"/>
          </a:xfrm>
          <a:prstGeom prst="roundRect">
            <a:avLst>
              <a:gd name="adj" fmla="val 18674"/>
            </a:avLst>
          </a:prstGeom>
          <a:solidFill>
            <a:srgbClr val="DDEEDD"/>
          </a:solidFill>
          <a:ln w="7620">
            <a:solidFill>
              <a:srgbClr val="C3D4C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7765" y="5259705"/>
            <a:ext cx="2335411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What versions are compatible?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67765" y="5544979"/>
            <a:ext cx="5990153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Supported Terraform and provider version ranges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3790" y="5882878"/>
            <a:ext cx="290155" cy="290155"/>
          </a:xfrm>
          <a:prstGeom prst="roundRect">
            <a:avLst>
              <a:gd name="adj" fmla="val 18674"/>
            </a:avLst>
          </a:prstGeom>
          <a:solidFill>
            <a:srgbClr val="DDEEDD"/>
          </a:solidFill>
          <a:ln w="7620">
            <a:solidFill>
              <a:srgbClr val="C3D4C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7765" y="5927169"/>
            <a:ext cx="2670096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What environments are supported?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67765" y="6212443"/>
            <a:ext cx="5990153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Development, staging, production readiness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80102" y="2876907"/>
            <a:ext cx="1935123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Metadata Properties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480102" y="3213021"/>
            <a:ext cx="6364129" cy="728662"/>
          </a:xfrm>
          <a:prstGeom prst="roundRect">
            <a:avLst>
              <a:gd name="adj" fmla="val 7436"/>
            </a:avLst>
          </a:prstGeom>
          <a:solidFill>
            <a:srgbClr val="E6F3E6"/>
          </a:solidFill>
          <a:ln w="7620">
            <a:solidFill>
              <a:srgbClr val="CCD9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16666" y="3349585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Structured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616666" y="3634859"/>
            <a:ext cx="609099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JSON/YAML schemas with validation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80102" y="4025503"/>
            <a:ext cx="6364129" cy="728662"/>
          </a:xfrm>
          <a:prstGeom prst="roundRect">
            <a:avLst>
              <a:gd name="adj" fmla="val 7436"/>
            </a:avLst>
          </a:prstGeom>
          <a:solidFill>
            <a:srgbClr val="CCE8CC"/>
          </a:solidFill>
          <a:ln w="7620">
            <a:solidFill>
              <a:srgbClr val="B2CEB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16666" y="4162068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Queryable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616666" y="4447342"/>
            <a:ext cx="609099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Search, filter, and analyze at scale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480102" y="4837986"/>
            <a:ext cx="6364129" cy="728662"/>
          </a:xfrm>
          <a:prstGeom prst="roundRect">
            <a:avLst>
              <a:gd name="adj" fmla="val 7436"/>
            </a:avLst>
          </a:prstGeom>
          <a:solidFill>
            <a:srgbClr val="D2BE91"/>
          </a:solidFill>
          <a:ln w="7620">
            <a:solidFill>
              <a:srgbClr val="B8A4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16666" y="4974550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Versioned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616666" y="5259824"/>
            <a:ext cx="609099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Historical tracking of changes over time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80102" y="5650468"/>
            <a:ext cx="6364129" cy="728662"/>
          </a:xfrm>
          <a:prstGeom prst="roundRect">
            <a:avLst>
              <a:gd name="adj" fmla="val 7436"/>
            </a:avLst>
          </a:prstGeom>
          <a:solidFill>
            <a:srgbClr val="AF9646"/>
          </a:solidFill>
          <a:ln w="7620">
            <a:solidFill>
              <a:srgbClr val="957C2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16666" y="5787033"/>
            <a:ext cx="1647587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Machine-Consumable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616666" y="6072307"/>
            <a:ext cx="609099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Direct integration with automation and 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2201704"/>
            <a:ext cx="960834" cy="213598"/>
          </a:xfrm>
          <a:prstGeom prst="roundRect">
            <a:avLst>
              <a:gd name="adj" fmla="val 20294"/>
            </a:avLst>
          </a:prstGeom>
          <a:solidFill>
            <a:srgbClr val="D2BE91"/>
          </a:solidFill>
          <a:ln/>
        </p:spPr>
      </p:sp>
      <p:sp>
        <p:nvSpPr>
          <p:cNvPr id="3" name="Text 1"/>
          <p:cNvSpPr/>
          <p:nvPr/>
        </p:nvSpPr>
        <p:spPr>
          <a:xfrm>
            <a:off x="871180" y="2240399"/>
            <a:ext cx="806053" cy="136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CAPABILITIES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93790" y="2448758"/>
            <a:ext cx="4675108" cy="403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AI needs structure to be useful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93790" y="2977634"/>
            <a:ext cx="13042821" cy="2127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Terraform Foundations, AI transforms chaos into clarity, enabling powerful new capabilities.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93790" y="3368516"/>
            <a:ext cx="1628656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What AI Can Now Do: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3790" y="3653790"/>
            <a:ext cx="369260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Automated infrastructure reasoning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93790" y="3853339"/>
            <a:ext cx="369260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Accurate impact analysis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3790" y="4052888"/>
            <a:ext cx="369260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Intelligent design suggestions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3790" y="4306967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And Also: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93790" y="4592241"/>
            <a:ext cx="369260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Proactive drift detection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3790" y="4791789"/>
            <a:ext cx="369260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Guided best practice recommendations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93790" y="4991338"/>
            <a:ext cx="369260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Predictive failure insights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6277" y="3378994"/>
            <a:ext cx="5840135" cy="255448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367642" y="4668519"/>
            <a:ext cx="684258" cy="159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Chaos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9662642" y="4668519"/>
            <a:ext cx="684257" cy="159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Order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0802304" y="5474624"/>
            <a:ext cx="1125349" cy="1049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Validated truth</a:t>
            </a:r>
            <a:endParaRPr lang="en-US" sz="10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85535" y="5438662"/>
            <a:ext cx="143231" cy="143231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1113331" y="4677266"/>
            <a:ext cx="995283" cy="1049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Structured metadata</a:t>
            </a:r>
            <a:endParaRPr lang="en-US" sz="105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39150" y="4686456"/>
            <a:ext cx="143231" cy="143231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0774030" y="3879908"/>
            <a:ext cx="1131004" cy="1049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Predictable patterns</a:t>
            </a:r>
            <a:endParaRPr lang="en-US" sz="10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88539" y="3876197"/>
            <a:ext cx="143231" cy="14323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809860" y="5477452"/>
            <a:ext cx="1114039" cy="1049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standards</a:t>
            </a:r>
            <a:endParaRPr lang="en-US" sz="105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78970" y="5451739"/>
            <a:ext cx="141994" cy="14199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594970" y="4671612"/>
            <a:ext cx="983973" cy="1049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Tribal knowledge</a:t>
            </a:r>
            <a:endParaRPr lang="en-US" sz="105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77994" y="4665338"/>
            <a:ext cx="153039" cy="153039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809860" y="3882736"/>
            <a:ext cx="1114039" cy="1049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Inconsistent code</a:t>
            </a:r>
            <a:endParaRPr lang="en-US" sz="10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52551" y="3876993"/>
            <a:ext cx="153039" cy="15303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551617"/>
            <a:ext cx="979527" cy="213598"/>
          </a:xfrm>
          <a:prstGeom prst="roundRect">
            <a:avLst>
              <a:gd name="adj" fmla="val 20294"/>
            </a:avLst>
          </a:prstGeom>
          <a:solidFill>
            <a:srgbClr val="D2BE9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1180" y="606862"/>
            <a:ext cx="103108" cy="1031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5843" y="590312"/>
            <a:ext cx="670084" cy="136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PRACTICAL AI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93790" y="798671"/>
            <a:ext cx="4684157" cy="403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AI Usage (Practical, Grounded)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793790" y="1327547"/>
            <a:ext cx="13042821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Once Terraform Foundations are established, AI systems can provide tangible value through capabilities grounded in reliable, structured data rather than speculation.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1670" y="1592104"/>
            <a:ext cx="2001917" cy="200191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126337" y="3698796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Answer Questions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93790" y="3950494"/>
            <a:ext cx="4277678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Query real module capabilities, dependencies, and usage patterns based on actual metadata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4123" y="1592104"/>
            <a:ext cx="2001917" cy="200191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439972" y="3698796"/>
            <a:ext cx="1750338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Identify Misalignments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5176242" y="3950494"/>
            <a:ext cx="4277797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Detect implementations that deviate from established patterns or best practices</a:t>
            </a:r>
            <a:endParaRPr lang="en-US" sz="10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6694" y="1592104"/>
            <a:ext cx="2001917" cy="200191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866239" y="3698796"/>
            <a:ext cx="1662946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Suggest Valid Designs</a:t>
            </a:r>
            <a:endParaRPr lang="en-US" sz="1250" dirty="0"/>
          </a:p>
        </p:txBody>
      </p:sp>
      <p:sp>
        <p:nvSpPr>
          <p:cNvPr id="15" name="Text 9"/>
          <p:cNvSpPr/>
          <p:nvPr/>
        </p:nvSpPr>
        <p:spPr>
          <a:xfrm>
            <a:off x="9558814" y="3950494"/>
            <a:ext cx="4277797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Propose system architectures using validated modules and proven composition patterns</a:t>
            </a:r>
            <a:endParaRPr lang="en-US" sz="10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1670" y="4458653"/>
            <a:ext cx="2001917" cy="2001917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981081" y="6565344"/>
            <a:ext cx="1902976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Detect Breaking Changes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793790" y="6817043"/>
            <a:ext cx="4277678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Analyze version updates and identify potential impacts across dependent systems</a:t>
            </a:r>
            <a:endParaRPr lang="en-US" sz="10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4123" y="4458653"/>
            <a:ext cx="2001917" cy="2001917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979557" y="6565344"/>
            <a:ext cx="2671167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Compare Intent vs Implementation</a:t>
            </a:r>
            <a:endParaRPr lang="en-US" sz="1250" dirty="0"/>
          </a:p>
        </p:txBody>
      </p:sp>
      <p:sp>
        <p:nvSpPr>
          <p:cNvPr id="21" name="Text 13"/>
          <p:cNvSpPr/>
          <p:nvPr/>
        </p:nvSpPr>
        <p:spPr>
          <a:xfrm>
            <a:off x="5176242" y="6817043"/>
            <a:ext cx="4277797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Validate that deployed infrastructure matches documented design and requirements</a:t>
            </a:r>
            <a:endParaRPr lang="en-US" sz="10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6694" y="4458653"/>
            <a:ext cx="2001917" cy="2001917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10868382" y="6565344"/>
            <a:ext cx="1658541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Assist Documentation</a:t>
            </a:r>
            <a:endParaRPr lang="en-US" sz="1250" dirty="0"/>
          </a:p>
        </p:txBody>
      </p:sp>
      <p:sp>
        <p:nvSpPr>
          <p:cNvPr id="24" name="Text 15"/>
          <p:cNvSpPr/>
          <p:nvPr/>
        </p:nvSpPr>
        <p:spPr>
          <a:xfrm>
            <a:off x="9558814" y="6817043"/>
            <a:ext cx="4277797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Generate consistent, accurate documentation from validated metadata and schemas</a:t>
            </a:r>
            <a:endParaRPr lang="en-US" sz="1000" dirty="0"/>
          </a:p>
        </p:txBody>
      </p:sp>
      <p:sp>
        <p:nvSpPr>
          <p:cNvPr id="25" name="Shape 16"/>
          <p:cNvSpPr/>
          <p:nvPr/>
        </p:nvSpPr>
        <p:spPr>
          <a:xfrm>
            <a:off x="793790" y="7251859"/>
            <a:ext cx="13042821" cy="426006"/>
          </a:xfrm>
          <a:prstGeom prst="roundRect">
            <a:avLst>
              <a:gd name="adj" fmla="val 12719"/>
            </a:avLst>
          </a:prstGeom>
          <a:solidFill>
            <a:srgbClr val="CBE6CB"/>
          </a:solidFill>
          <a:ln/>
        </p:spPr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2734" y="7429619"/>
            <a:ext cx="161211" cy="128945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1212890" y="7367826"/>
            <a:ext cx="12494776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consumes the foundation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as a reliable data source — it does not replace engineering judgment, standards, or governance.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677347"/>
            <a:ext cx="1818442" cy="300990"/>
          </a:xfrm>
          <a:prstGeom prst="roundRect">
            <a:avLst>
              <a:gd name="adj" fmla="val 18833"/>
            </a:avLst>
          </a:prstGeom>
          <a:solidFill>
            <a:srgbClr val="D2BE91"/>
          </a:solidFill>
          <a:ln/>
        </p:spPr>
      </p:sp>
      <p:sp>
        <p:nvSpPr>
          <p:cNvPr id="3" name="Text 1"/>
          <p:cNvSpPr/>
          <p:nvPr/>
        </p:nvSpPr>
        <p:spPr>
          <a:xfrm>
            <a:off x="894993" y="727948"/>
            <a:ext cx="1616035" cy="1997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SUPPORTING CAPABILITY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93790" y="1035606"/>
            <a:ext cx="9122688" cy="527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0"/>
              </a:lnSpc>
              <a:buNone/>
            </a:pPr>
            <a:r>
              <a:rPr lang="en-US" sz="33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Sandbox (Supporting Capability, Not the Core)</a:t>
            </a:r>
            <a:endParaRPr lang="en-US" sz="3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0" y="1938933"/>
            <a:ext cx="4796314" cy="479631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5738" y="1906667"/>
            <a:ext cx="6988373" cy="749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Sandbox environments serve as controlled observation and experimentation spaces that feed intelligence back into the Terraform Foundations, but they are a </a:t>
            </a:r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highlight>
                  <a:srgbClr val="E6F3E6"/>
                </a:highlight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supporting capability</a:t>
            </a:r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not the primary initiative.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5738" y="2799040"/>
            <a:ext cx="2530435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Sandbox Purpose</a:t>
            </a:r>
            <a:endParaRPr lang="en-US" sz="19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18960" y="3281601"/>
            <a:ext cx="253008" cy="2530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03902" y="3276481"/>
            <a:ext cx="2651998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Observe real service usage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7403902" y="3683317"/>
            <a:ext cx="6440210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Capture actual consumption patterns in safe environments</a:t>
            </a:r>
            <a:endParaRPr lang="en-US" sz="13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18960" y="4224814"/>
            <a:ext cx="253008" cy="2530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403902" y="4219694"/>
            <a:ext cx="3052882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Capture configuration patterns</a:t>
            </a:r>
            <a:endParaRPr lang="en-US" sz="1650" dirty="0"/>
          </a:p>
        </p:txBody>
      </p:sp>
      <p:sp>
        <p:nvSpPr>
          <p:cNvPr id="13" name="Text 8"/>
          <p:cNvSpPr/>
          <p:nvPr/>
        </p:nvSpPr>
        <p:spPr>
          <a:xfrm>
            <a:off x="7403902" y="4626531"/>
            <a:ext cx="6440210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teams compose and configure services</a:t>
            </a:r>
            <a:endParaRPr lang="en-US" sz="13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18960" y="5168027"/>
            <a:ext cx="253008" cy="2530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403902" y="5162907"/>
            <a:ext cx="4454962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Compare functional vs security requirements</a:t>
            </a:r>
            <a:endParaRPr lang="en-US" sz="1650" dirty="0"/>
          </a:p>
        </p:txBody>
      </p:sp>
      <p:sp>
        <p:nvSpPr>
          <p:cNvPr id="16" name="Text 10"/>
          <p:cNvSpPr/>
          <p:nvPr/>
        </p:nvSpPr>
        <p:spPr>
          <a:xfrm>
            <a:off x="7403902" y="5569744"/>
            <a:ext cx="6440210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Identify gaps between what works and what's compliant</a:t>
            </a:r>
            <a:endParaRPr lang="en-US" sz="13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18960" y="6111240"/>
            <a:ext cx="253008" cy="25300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403902" y="6106120"/>
            <a:ext cx="3678079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Generate evidence for module design</a:t>
            </a:r>
            <a:endParaRPr lang="en-US" sz="1650" dirty="0"/>
          </a:p>
        </p:txBody>
      </p:sp>
      <p:sp>
        <p:nvSpPr>
          <p:cNvPr id="19" name="Text 12"/>
          <p:cNvSpPr/>
          <p:nvPr/>
        </p:nvSpPr>
        <p:spPr>
          <a:xfrm>
            <a:off x="7403902" y="6512957"/>
            <a:ext cx="6440210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Validate requirements with real-world usage data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855738" y="6923842"/>
            <a:ext cx="6988373" cy="499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Sandbox </a:t>
            </a:r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informs</a:t>
            </a:r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Terraform Foundations through empirical evidence — it does not replace the need for standardized, governed infrastructure patterns.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280190" y="1691045"/>
            <a:ext cx="1389936" cy="213598"/>
          </a:xfrm>
          <a:prstGeom prst="roundRect">
            <a:avLst>
              <a:gd name="adj" fmla="val 20294"/>
            </a:avLst>
          </a:prstGeom>
          <a:solidFill>
            <a:srgbClr val="D2BE91"/>
          </a:solidFill>
          <a:ln/>
        </p:spPr>
      </p:sp>
      <p:sp>
        <p:nvSpPr>
          <p:cNvPr id="4" name="Text 1"/>
          <p:cNvSpPr/>
          <p:nvPr/>
        </p:nvSpPr>
        <p:spPr>
          <a:xfrm>
            <a:off x="6357580" y="1729740"/>
            <a:ext cx="1235154" cy="136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SUPPORTING CAPABILITY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280190" y="1938099"/>
            <a:ext cx="4336613" cy="403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Governance Without Friction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280190" y="2466975"/>
            <a:ext cx="7556421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Traditional governance creates bottlenecks through manual reviews, subjective approvals, and endless coordination. Terraform Foundations implements governance as automated, evidence-based enforcement that operates at the speed of code.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280190" y="2901791"/>
            <a:ext cx="3736300" cy="865346"/>
          </a:xfrm>
          <a:prstGeom prst="roundRect">
            <a:avLst>
              <a:gd name="adj" fmla="val 6261"/>
            </a:avLst>
          </a:prstGeom>
          <a:solidFill>
            <a:srgbClr val="E6F3E6"/>
          </a:solidFill>
          <a:ln w="7620">
            <a:solidFill>
              <a:srgbClr val="CCD9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23415" y="3038356"/>
            <a:ext cx="1649849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Automated Validation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16754" y="3290054"/>
            <a:ext cx="3463171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Quality gates execute in CI/CD pipelines without human intervention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100310" y="2901791"/>
            <a:ext cx="3736300" cy="865346"/>
          </a:xfrm>
          <a:prstGeom prst="roundRect">
            <a:avLst>
              <a:gd name="adj" fmla="val 6261"/>
            </a:avLst>
          </a:prstGeom>
          <a:solidFill>
            <a:srgbClr val="CCE8CC"/>
          </a:solidFill>
          <a:ln w="7620">
            <a:solidFill>
              <a:srgbClr val="B2CEB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35558" y="3038356"/>
            <a:ext cx="166580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Immutable Standards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0236875" y="3290054"/>
            <a:ext cx="3463171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Policies defined as code and version-controlled alongside infrastructure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80190" y="3850958"/>
            <a:ext cx="3736300" cy="865346"/>
          </a:xfrm>
          <a:prstGeom prst="roundRect">
            <a:avLst>
              <a:gd name="adj" fmla="val 6261"/>
            </a:avLst>
          </a:prstGeom>
          <a:solidFill>
            <a:srgbClr val="D2BE91"/>
          </a:solidFill>
          <a:ln w="7620">
            <a:solidFill>
              <a:srgbClr val="B8A47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197566" y="3987522"/>
            <a:ext cx="1901428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Evidence-Based Controls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416754" y="4239220"/>
            <a:ext cx="3463171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Objective validation results replace subjective judgment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0100310" y="3850958"/>
            <a:ext cx="3736300" cy="865346"/>
          </a:xfrm>
          <a:prstGeom prst="roundRect">
            <a:avLst>
              <a:gd name="adj" fmla="val 6261"/>
            </a:avLst>
          </a:prstGeom>
          <a:solidFill>
            <a:srgbClr val="AF9646"/>
          </a:solidFill>
          <a:ln w="7620">
            <a:solidFill>
              <a:srgbClr val="957C2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162109" y="3987522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Versioned Contracts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0236875" y="4239220"/>
            <a:ext cx="3463171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Module interfaces and dependencies explicitly declared and enforced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80190" y="4894421"/>
            <a:ext cx="1935123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Old Model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280190" y="5220057"/>
            <a:ext cx="36209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Manual review boards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280190" y="5419606"/>
            <a:ext cx="36209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Endless coordination meetings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280190" y="5619155"/>
            <a:ext cx="36209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Subjective approval processes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280190" y="5818703"/>
            <a:ext cx="36209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Weeks of waiting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223302" y="4894421"/>
            <a:ext cx="1935123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highlight>
                  <a:srgbClr val="E6F3E6"/>
                </a:highlight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New Model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223302" y="5220057"/>
            <a:ext cx="36209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Policy as code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executed automatically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10223302" y="5419606"/>
            <a:ext cx="36209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Evidence generation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real-time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223302" y="5619155"/>
            <a:ext cx="36209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Immediate feedback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to developers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0223302" y="5818703"/>
            <a:ext cx="36209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Governance at velocity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6280190" y="6112550"/>
            <a:ext cx="7556421" cy="426006"/>
          </a:xfrm>
          <a:prstGeom prst="roundRect">
            <a:avLst>
              <a:gd name="adj" fmla="val 12719"/>
            </a:avLst>
          </a:prstGeom>
          <a:solidFill>
            <a:srgbClr val="CBE6CB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134" y="6290310"/>
            <a:ext cx="161211" cy="128945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6699290" y="6228517"/>
            <a:ext cx="7008376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Governance becomes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code and policy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not meetings. Compliance is continuous, not a gate.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1048941"/>
            <a:ext cx="1239203" cy="213598"/>
          </a:xfrm>
          <a:prstGeom prst="roundRect">
            <a:avLst>
              <a:gd name="adj" fmla="val 20294"/>
            </a:avLst>
          </a:prstGeom>
          <a:solidFill>
            <a:srgbClr val="D2BE9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1180" y="1104186"/>
            <a:ext cx="103108" cy="1031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5843" y="1087636"/>
            <a:ext cx="929759" cy="136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 IMPACT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93790" y="1295995"/>
            <a:ext cx="3225165" cy="403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Measured Impact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793790" y="1824871"/>
            <a:ext cx="13042821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Impact projections are derived from analysis of 89 documented Terraform incidents, operational support data, and industry benchmarks for infrastructure standardization initiatives.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93790" y="2089428"/>
            <a:ext cx="13042821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93790" y="2385417"/>
            <a:ext cx="3748921" cy="322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Incident Reduction Projections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793790" y="2897981"/>
            <a:ext cx="6021824" cy="161211"/>
          </a:xfrm>
          <a:prstGeom prst="roundRect">
            <a:avLst>
              <a:gd name="adj" fmla="val 33610"/>
            </a:avLst>
          </a:prstGeom>
          <a:solidFill>
            <a:srgbClr val="FFFFFF"/>
          </a:solidFill>
          <a:ln w="7620">
            <a:solidFill>
              <a:srgbClr val="CC9A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93790" y="2897981"/>
            <a:ext cx="3613071" cy="161211"/>
          </a:xfrm>
          <a:prstGeom prst="roundRect">
            <a:avLst>
              <a:gd name="adj" fmla="val 33610"/>
            </a:avLst>
          </a:prstGeom>
          <a:solidFill>
            <a:srgbClr val="E6B400"/>
          </a:solidFill>
          <a:ln/>
        </p:spPr>
      </p:sp>
      <p:sp>
        <p:nvSpPr>
          <p:cNvPr id="11" name="Text 8"/>
          <p:cNvSpPr/>
          <p:nvPr/>
        </p:nvSpPr>
        <p:spPr>
          <a:xfrm>
            <a:off x="6912293" y="2897981"/>
            <a:ext cx="350520" cy="161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60%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178135" y="3186470"/>
            <a:ext cx="1700332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Conservative Estimate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93790" y="3438168"/>
            <a:ext cx="6469023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Minimum incident reduction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367587" y="2897981"/>
            <a:ext cx="6021824" cy="161211"/>
          </a:xfrm>
          <a:prstGeom prst="roundRect">
            <a:avLst>
              <a:gd name="adj" fmla="val 33610"/>
            </a:avLst>
          </a:prstGeom>
          <a:solidFill>
            <a:srgbClr val="FFFFFF"/>
          </a:solidFill>
          <a:ln w="7620">
            <a:solidFill>
              <a:srgbClr val="CC9A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367587" y="2897981"/>
            <a:ext cx="5118497" cy="161211"/>
          </a:xfrm>
          <a:prstGeom prst="roundRect">
            <a:avLst>
              <a:gd name="adj" fmla="val 33610"/>
            </a:avLst>
          </a:prstGeom>
          <a:solidFill>
            <a:srgbClr val="E6B400"/>
          </a:solidFill>
          <a:ln/>
        </p:spPr>
      </p:sp>
      <p:sp>
        <p:nvSpPr>
          <p:cNvPr id="16" name="Text 13"/>
          <p:cNvSpPr/>
          <p:nvPr/>
        </p:nvSpPr>
        <p:spPr>
          <a:xfrm>
            <a:off x="13486090" y="2897981"/>
            <a:ext cx="350520" cy="161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85%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9795748" y="3186470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Target Estimate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367587" y="3438168"/>
            <a:ext cx="6469023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Expected with full adoption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93790" y="3734157"/>
            <a:ext cx="2580084" cy="322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Financial Impact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793790" y="4341019"/>
            <a:ext cx="4093369" cy="425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350"/>
              </a:lnSpc>
              <a:buNone/>
            </a:pPr>
            <a:r>
              <a:rPr lang="en-US" sz="3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$150K</a:t>
            </a:r>
            <a:endParaRPr lang="en-US" sz="3350" dirty="0"/>
          </a:p>
        </p:txBody>
      </p:sp>
      <p:sp>
        <p:nvSpPr>
          <p:cNvPr id="21" name="Text 18"/>
          <p:cNvSpPr/>
          <p:nvPr/>
        </p:nvSpPr>
        <p:spPr>
          <a:xfrm>
            <a:off x="2008584" y="4893945"/>
            <a:ext cx="1663779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Direct Annual Savings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93790" y="5179219"/>
            <a:ext cx="409336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Platform team efficiency gains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209342" y="4341019"/>
            <a:ext cx="4093369" cy="425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350"/>
              </a:lnSpc>
              <a:buNone/>
            </a:pPr>
            <a:r>
              <a:rPr lang="en-US" sz="3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$310K</a:t>
            </a:r>
            <a:endParaRPr lang="en-US" sz="3350" dirty="0"/>
          </a:p>
        </p:txBody>
      </p:sp>
      <p:sp>
        <p:nvSpPr>
          <p:cNvPr id="24" name="Text 21"/>
          <p:cNvSpPr/>
          <p:nvPr/>
        </p:nvSpPr>
        <p:spPr>
          <a:xfrm>
            <a:off x="6260663" y="4893945"/>
            <a:ext cx="1990725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Conservative Total Impact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209342" y="5179219"/>
            <a:ext cx="409336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Including reduced incidents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624893" y="4341019"/>
            <a:ext cx="4226838" cy="425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350"/>
              </a:lnSpc>
              <a:buNone/>
            </a:pPr>
            <a:r>
              <a:rPr lang="en-US" sz="3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$2M+</a:t>
            </a:r>
            <a:endParaRPr lang="en-US" sz="3350" dirty="0"/>
          </a:p>
        </p:txBody>
      </p:sp>
      <p:sp>
        <p:nvSpPr>
          <p:cNvPr id="27" name="Text 24"/>
          <p:cNvSpPr/>
          <p:nvPr/>
        </p:nvSpPr>
        <p:spPr>
          <a:xfrm>
            <a:off x="10750629" y="4893945"/>
            <a:ext cx="1975247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Enterprise-Wide Potential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9624893" y="5179219"/>
            <a:ext cx="4226838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Full LOB productivity impact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93790" y="5538073"/>
            <a:ext cx="13042821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93790" y="6056709"/>
            <a:ext cx="2113478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Specific Improvements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793790" y="6382345"/>
            <a:ext cx="63641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corruption events: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Nearly eliminated through standardized workflows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793790" y="6581894"/>
            <a:ext cx="63641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Pipeline instability: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Dramatically reduced via validation gates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93790" y="6781443"/>
            <a:ext cx="63641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Module rework: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Minimized through upfront standards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793790" y="6980992"/>
            <a:ext cx="63641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LOB inefficiency: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Significant reduction in support tickets and escalations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480102" y="6056709"/>
            <a:ext cx="2333268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Additional Impact Details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7480102" y="6382345"/>
            <a:ext cx="63641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Accelerated Deployments: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Faster time-to-market for new features.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7480102" y="6581894"/>
            <a:ext cx="63641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Enhanced Security Posture: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Automated checks enforce compliance standards.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7480102" y="6781443"/>
            <a:ext cx="63641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Improved Developer Experience: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Reduced friction and clearer guardrails.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480102" y="6980992"/>
            <a:ext cx="63641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Reduced Technical Debt: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Consistent patterns prevent future issues.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1562814"/>
            <a:ext cx="1020961" cy="228838"/>
          </a:xfrm>
          <a:prstGeom prst="roundRect">
            <a:avLst>
              <a:gd name="adj" fmla="val 18942"/>
            </a:avLst>
          </a:prstGeom>
          <a:noFill/>
          <a:ln w="7620">
            <a:solidFill>
              <a:srgbClr val="E6F3E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8800" y="1625679"/>
            <a:ext cx="103108" cy="1031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3462" y="1609130"/>
            <a:ext cx="696277" cy="136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008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FUTURE STATE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93790" y="1825109"/>
            <a:ext cx="5771674" cy="403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What This Unlocks Next (Future State)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793790" y="2353985"/>
            <a:ext cx="13042821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Terraform Foundations serves as the architectural launchpad for next-generation platform capabilities. Once the foundation is stable, mature, and proven, advanced capabilities become possible.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8759" y="2618542"/>
            <a:ext cx="1291233" cy="679847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63591" y="2867739"/>
            <a:ext cx="181332" cy="18133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828937" y="2747486"/>
            <a:ext cx="2040374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AI-Assisted Service Design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4828937" y="2999184"/>
            <a:ext cx="4480441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Intelligent recommendations based on validated patterns and real usage data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732139" y="3310652"/>
            <a:ext cx="9072324" cy="7620"/>
          </a:xfrm>
          <a:prstGeom prst="roundRect">
            <a:avLst>
              <a:gd name="adj" fmla="val 711070"/>
            </a:avLst>
          </a:prstGeom>
          <a:solidFill>
            <a:srgbClr val="C3D4C3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3203" y="3330535"/>
            <a:ext cx="2582466" cy="679847"/>
          </a:xfrm>
          <a:prstGeom prst="rect">
            <a:avLst/>
          </a:prstGeom>
        </p:spPr>
      </p:pic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63710" y="3579733"/>
            <a:ext cx="181332" cy="18133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474613" y="3459480"/>
            <a:ext cx="1694498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Faster GA Enablement</a:t>
            </a:r>
            <a:endParaRPr lang="en-US" sz="1250" dirty="0"/>
          </a:p>
        </p:txBody>
      </p:sp>
      <p:sp>
        <p:nvSpPr>
          <p:cNvPr id="15" name="Text 8"/>
          <p:cNvSpPr/>
          <p:nvPr/>
        </p:nvSpPr>
        <p:spPr>
          <a:xfrm>
            <a:off x="5474613" y="3711178"/>
            <a:ext cx="3868222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Reduce time-to-production for new services from months to weeks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5377815" y="4022646"/>
            <a:ext cx="8426648" cy="7620"/>
          </a:xfrm>
          <a:prstGeom prst="roundRect">
            <a:avLst>
              <a:gd name="adj" fmla="val 711070"/>
            </a:avLst>
          </a:prstGeom>
          <a:solidFill>
            <a:srgbClr val="C3D4C3"/>
          </a:solidFill>
          <a:ln/>
        </p:spPr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17527" y="4042529"/>
            <a:ext cx="3873698" cy="679847"/>
          </a:xfrm>
          <a:prstGeom prst="rect">
            <a:avLst/>
          </a:prstGeom>
        </p:spPr>
      </p:pic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963591" y="4291727"/>
            <a:ext cx="181332" cy="181332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6120170" y="4171474"/>
            <a:ext cx="216622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Predictable Service Patterns</a:t>
            </a:r>
            <a:endParaRPr lang="en-US" sz="1250" dirty="0"/>
          </a:p>
        </p:txBody>
      </p:sp>
      <p:sp>
        <p:nvSpPr>
          <p:cNvPr id="20" name="Text 11"/>
          <p:cNvSpPr/>
          <p:nvPr/>
        </p:nvSpPr>
        <p:spPr>
          <a:xfrm>
            <a:off x="6120170" y="4423172"/>
            <a:ext cx="3305175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Standardized blueprints that teams can confidently reuse</a:t>
            </a:r>
            <a:endParaRPr lang="en-US" sz="1000" dirty="0"/>
          </a:p>
        </p:txBody>
      </p:sp>
      <p:sp>
        <p:nvSpPr>
          <p:cNvPr id="21" name="Shape 12"/>
          <p:cNvSpPr/>
          <p:nvPr/>
        </p:nvSpPr>
        <p:spPr>
          <a:xfrm>
            <a:off x="6023372" y="4734639"/>
            <a:ext cx="7781092" cy="7620"/>
          </a:xfrm>
          <a:prstGeom prst="roundRect">
            <a:avLst>
              <a:gd name="adj" fmla="val 711070"/>
            </a:avLst>
          </a:prstGeom>
          <a:solidFill>
            <a:srgbClr val="C3D4C3"/>
          </a:solidFill>
          <a:ln/>
        </p:spPr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71970" y="4754523"/>
            <a:ext cx="5164931" cy="679847"/>
          </a:xfrm>
          <a:prstGeom prst="rect">
            <a:avLst/>
          </a:prstGeom>
        </p:spPr>
      </p:pic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963710" y="5003721"/>
            <a:ext cx="181332" cy="181332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6765846" y="4883468"/>
            <a:ext cx="190214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Reduced Support Burden</a:t>
            </a:r>
            <a:endParaRPr lang="en-US" sz="1250" dirty="0"/>
          </a:p>
        </p:txBody>
      </p:sp>
      <p:sp>
        <p:nvSpPr>
          <p:cNvPr id="25" name="Text 14"/>
          <p:cNvSpPr/>
          <p:nvPr/>
        </p:nvSpPr>
        <p:spPr>
          <a:xfrm>
            <a:off x="6765846" y="5135166"/>
            <a:ext cx="421778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Self-service capabilities with automated guidance replace manual tickets</a:t>
            </a:r>
            <a:endParaRPr lang="en-US" sz="1000" dirty="0"/>
          </a:p>
        </p:txBody>
      </p:sp>
      <p:sp>
        <p:nvSpPr>
          <p:cNvPr id="26" name="Shape 15"/>
          <p:cNvSpPr/>
          <p:nvPr/>
        </p:nvSpPr>
        <p:spPr>
          <a:xfrm>
            <a:off x="6669048" y="5446633"/>
            <a:ext cx="7135416" cy="7620"/>
          </a:xfrm>
          <a:prstGeom prst="roundRect">
            <a:avLst>
              <a:gd name="adj" fmla="val 711070"/>
            </a:avLst>
          </a:prstGeom>
          <a:solidFill>
            <a:srgbClr val="C3D4C3"/>
          </a:solidFill>
          <a:ln/>
        </p:spPr>
      </p:sp>
      <p:pic>
        <p:nvPicPr>
          <p:cNvPr id="27" name="Image 9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6294" y="5466517"/>
            <a:ext cx="6456164" cy="679847"/>
          </a:xfrm>
          <a:prstGeom prst="rect">
            <a:avLst/>
          </a:prstGeom>
        </p:spPr>
      </p:pic>
      <p:pic>
        <p:nvPicPr>
          <p:cNvPr id="28" name="Image 10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963710" y="5715714"/>
            <a:ext cx="181332" cy="181332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7411403" y="5595461"/>
            <a:ext cx="1957626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Scalable Platform Growth</a:t>
            </a:r>
            <a:endParaRPr lang="en-US" sz="1250" dirty="0"/>
          </a:p>
        </p:txBody>
      </p:sp>
      <p:sp>
        <p:nvSpPr>
          <p:cNvPr id="30" name="Text 17"/>
          <p:cNvSpPr/>
          <p:nvPr/>
        </p:nvSpPr>
        <p:spPr>
          <a:xfrm>
            <a:off x="7411403" y="5847159"/>
            <a:ext cx="4663321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Infrastructure that scales with organizational needs without linear cost increases</a:t>
            </a:r>
            <a:endParaRPr lang="en-US" sz="1000" dirty="0"/>
          </a:p>
        </p:txBody>
      </p:sp>
      <p:sp>
        <p:nvSpPr>
          <p:cNvPr id="31" name="Shape 18"/>
          <p:cNvSpPr/>
          <p:nvPr/>
        </p:nvSpPr>
        <p:spPr>
          <a:xfrm>
            <a:off x="793790" y="6240661"/>
            <a:ext cx="13042821" cy="426006"/>
          </a:xfrm>
          <a:prstGeom prst="roundRect">
            <a:avLst>
              <a:gd name="adj" fmla="val 12719"/>
            </a:avLst>
          </a:prstGeom>
          <a:solidFill>
            <a:srgbClr val="008A00"/>
          </a:solidFill>
          <a:ln/>
        </p:spPr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22734" y="6418421"/>
            <a:ext cx="161211" cy="128945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1212890" y="6356628"/>
            <a:ext cx="12494776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becomes the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launchpad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for next-generation platforms such as TDX, enabling capabilities impossible without a solid foundation.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655915"/>
            <a:ext cx="1392793" cy="249793"/>
          </a:xfrm>
          <a:prstGeom prst="roundRect">
            <a:avLst>
              <a:gd name="adj" fmla="val 18688"/>
            </a:avLst>
          </a:prstGeom>
          <a:noFill/>
          <a:ln w="7620">
            <a:solidFill>
              <a:srgbClr val="E6F3E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4753" y="725210"/>
            <a:ext cx="111085" cy="11108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322" y="705207"/>
            <a:ext cx="1044297" cy="151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008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FUTURE EXTENSION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93790" y="944523"/>
            <a:ext cx="7346990" cy="434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Next Step (Future): Extend Beyond Terraform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793790" y="1524476"/>
            <a:ext cx="13042821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Terraform Foundations are proven stable and delivering measurable value, the same architectural model extends naturally to other infrastructure and configuration management systems.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93790" y="1919883"/>
            <a:ext cx="2083951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The Reusable Model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93790" y="2289572"/>
            <a:ext cx="6351984" cy="796052"/>
          </a:xfrm>
          <a:prstGeom prst="roundRect">
            <a:avLst>
              <a:gd name="adj" fmla="val 7330"/>
            </a:avLst>
          </a:prstGeom>
          <a:solidFill>
            <a:srgbClr val="E6F3E6"/>
          </a:solidFill>
          <a:ln w="7620">
            <a:solidFill>
              <a:srgbClr val="CCD9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40237" y="2436019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Standards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40237" y="2750225"/>
            <a:ext cx="6059091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Consistent patterns and archetypes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93790" y="3182779"/>
            <a:ext cx="6351984" cy="796052"/>
          </a:xfrm>
          <a:prstGeom prst="roundRect">
            <a:avLst>
              <a:gd name="adj" fmla="val 7330"/>
            </a:avLst>
          </a:prstGeom>
          <a:solidFill>
            <a:srgbClr val="CCE8CC"/>
          </a:solidFill>
          <a:ln w="7620">
            <a:solidFill>
              <a:srgbClr val="B2CEB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40237" y="3329226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Metadata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940237" y="3643432"/>
            <a:ext cx="6059091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Machine-readable documentation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93790" y="4075986"/>
            <a:ext cx="6351984" cy="796052"/>
          </a:xfrm>
          <a:prstGeom prst="roundRect">
            <a:avLst>
              <a:gd name="adj" fmla="val 7330"/>
            </a:avLst>
          </a:prstGeom>
          <a:solidFill>
            <a:srgbClr val="E6F3E6"/>
          </a:solidFill>
          <a:ln w="7620">
            <a:solidFill>
              <a:srgbClr val="CCD9C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40237" y="4222433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Validation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940237" y="4536638"/>
            <a:ext cx="6059091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Automated quality enforcement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93790" y="4969193"/>
            <a:ext cx="6351984" cy="796052"/>
          </a:xfrm>
          <a:prstGeom prst="roundRect">
            <a:avLst>
              <a:gd name="adj" fmla="val 7330"/>
            </a:avLst>
          </a:prstGeom>
          <a:solidFill>
            <a:srgbClr val="CCE8CC"/>
          </a:solidFill>
          <a:ln w="7620">
            <a:solidFill>
              <a:srgbClr val="B2CEB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40237" y="5115639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Versioned Contracts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940237" y="5429845"/>
            <a:ext cx="6059091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Explicit interface definitions</a:t>
            </a:r>
            <a:endParaRPr lang="en-US" sz="10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246" y="1932027"/>
            <a:ext cx="2537698" cy="253769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492246" y="4579025"/>
            <a:ext cx="2784991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Future Target: Ansible / AAP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7492246" y="4936569"/>
            <a:ext cx="6351984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Apply the same foundation model to Ansible Automation Platform: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7492246" y="5213033"/>
            <a:ext cx="6351984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0"/>
              </a:lnSpc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Roles:</a:t>
            </a:r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Standardized, validated, cataloged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7492246" y="5435918"/>
            <a:ext cx="6351984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0"/>
              </a:lnSpc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Playbooks:</a:t>
            </a:r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Consistent structure and metadata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7492246" y="5658803"/>
            <a:ext cx="6351984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0"/>
              </a:lnSpc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Collections:</a:t>
            </a:r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Versioned with explicit dependencies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793790" y="6027539"/>
            <a:ext cx="2083951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Why This Matters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793790" y="6521291"/>
            <a:ext cx="4122539" cy="37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Cross-tooling visibility:</a:t>
            </a:r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Dependencies become visible across infrastructure (Terraform) and configuration (Ansible)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5262801" y="6521291"/>
            <a:ext cx="4121229" cy="37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Consistent governance:</a:t>
            </a:r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Same validation and evidence model applies universally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9730502" y="6521291"/>
            <a:ext cx="4121229" cy="37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Unified AI reasoning:</a:t>
            </a:r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Systems can reason across the full stack, not just one tool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793790" y="7096006"/>
            <a:ext cx="13042821" cy="477679"/>
          </a:xfrm>
          <a:prstGeom prst="roundRect">
            <a:avLst>
              <a:gd name="adj" fmla="val 12216"/>
            </a:avLst>
          </a:prstGeom>
          <a:solidFill>
            <a:srgbClr val="CBE6CB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17" y="7292697"/>
            <a:ext cx="173593" cy="138827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245037" y="7227808"/>
            <a:ext cx="12452747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Key point:</a:t>
            </a:r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This is not "adding Ansible scope" now — it's </a:t>
            </a:r>
            <a:pPr algn="l" indent="0" marL="0">
              <a:lnSpc>
                <a:spcPts val="145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extending a proven foundation</a:t>
            </a:r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after Terraform success is demonstrated.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190155"/>
            <a:ext cx="3721298" cy="46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50"/>
              </a:lnSpc>
              <a:buNone/>
            </a:pPr>
            <a:r>
              <a:rPr lang="en-US" sz="29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Summary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93790" y="2878574"/>
            <a:ext cx="13042821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initiative addresses a critical enterprise need through systematic engineering rather than superficial modernization.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93790" y="3212425"/>
            <a:ext cx="4273153" cy="1029057"/>
          </a:xfrm>
          <a:prstGeom prst="roundRect">
            <a:avLst>
              <a:gd name="adj" fmla="val 34717"/>
            </a:avLst>
          </a:prstGeom>
          <a:solidFill>
            <a:srgbClr val="E6F3E6"/>
          </a:solidFill>
          <a:ln w="7620">
            <a:solidFill>
              <a:srgbClr val="CCD9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45694" y="3368873"/>
            <a:ext cx="2369225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Fixes Terraform at the Root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50238" y="3668316"/>
            <a:ext cx="3960257" cy="416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Addresses systemic problems, not symptoms. Eliminates recurring failure patterns through standardization.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78504" y="3212425"/>
            <a:ext cx="4273272" cy="1029057"/>
          </a:xfrm>
          <a:prstGeom prst="roundRect">
            <a:avLst>
              <a:gd name="adj" fmla="val 34717"/>
            </a:avLst>
          </a:prstGeom>
          <a:solidFill>
            <a:srgbClr val="CCE8CC"/>
          </a:solidFill>
          <a:ln w="7620">
            <a:solidFill>
              <a:srgbClr val="B2CE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81581" y="3368873"/>
            <a:ext cx="2667119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Reduces Real, Measured Costs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334953" y="3668316"/>
            <a:ext cx="3960376" cy="416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$800K–$2.5M+ annual impact reduction based on documented incident analysis and operational data.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563338" y="3212425"/>
            <a:ext cx="4273153" cy="1029057"/>
          </a:xfrm>
          <a:prstGeom prst="roundRect">
            <a:avLst>
              <a:gd name="adj" fmla="val 34717"/>
            </a:avLst>
          </a:prstGeom>
          <a:solidFill>
            <a:srgbClr val="D2BE91"/>
          </a:solidFill>
          <a:ln w="7620">
            <a:solidFill>
              <a:srgbClr val="B8A4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57711" y="3368873"/>
            <a:ext cx="2884289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Improves Reliability and Velocity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719786" y="3668316"/>
            <a:ext cx="3960257" cy="416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Faster deployments with fewer failures. Teams spend time building, not recovering from incidents.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3790" y="4353044"/>
            <a:ext cx="6465570" cy="1029057"/>
          </a:xfrm>
          <a:prstGeom prst="roundRect">
            <a:avLst>
              <a:gd name="adj" fmla="val 34717"/>
            </a:avLst>
          </a:prstGeom>
          <a:solidFill>
            <a:srgbClr val="1F7135"/>
          </a:solidFill>
          <a:ln w="7620">
            <a:solidFill>
              <a:srgbClr val="388A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5672" y="4509492"/>
            <a:ext cx="3021806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Enables AI Safely and Responsibly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50238" y="4808934"/>
            <a:ext cx="6152674" cy="416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Creates the structured foundation AI requires. No hype, no speculation—just practical capabilities.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921" y="4353044"/>
            <a:ext cx="6465570" cy="1029057"/>
          </a:xfrm>
          <a:prstGeom prst="roundRect">
            <a:avLst>
              <a:gd name="adj" fmla="val 34717"/>
            </a:avLst>
          </a:prstGeom>
          <a:solidFill>
            <a:srgbClr val="957D00"/>
          </a:solidFill>
          <a:ln w="7620">
            <a:solidFill>
              <a:srgbClr val="AE961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29556" y="4509492"/>
            <a:ext cx="3548301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Creates a Durable Enterprise Foundation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527369" y="4808934"/>
            <a:ext cx="6152674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Extensible model proven with Terraform, ready to scale to Ansible and beyond.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3790" y="5507593"/>
            <a:ext cx="13042821" cy="531852"/>
          </a:xfrm>
          <a:prstGeom prst="roundRect">
            <a:avLst>
              <a:gd name="adj" fmla="val 11755"/>
            </a:avLst>
          </a:prstGeom>
          <a:solidFill>
            <a:srgbClr val="F2F2F2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618" y="5723334"/>
            <a:ext cx="185976" cy="14882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277422" y="5656302"/>
            <a:ext cx="12410361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is not optional modernization — it is </a:t>
            </a:r>
            <a:pPr algn="l"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foundational engineering</a:t>
            </a:r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required for sustainable platform growth.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0218" y="543282"/>
            <a:ext cx="1595557" cy="314682"/>
          </a:xfrm>
          <a:prstGeom prst="roundRect">
            <a:avLst>
              <a:gd name="adj" fmla="val 17930"/>
            </a:avLst>
          </a:prstGeom>
          <a:noFill/>
          <a:ln w="7620">
            <a:solidFill>
              <a:srgbClr val="E6F3E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98565" y="633413"/>
            <a:ext cx="134303" cy="1343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00018" y="601266"/>
            <a:ext cx="1177409" cy="1987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ACTION REQUIRED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790218" y="914995"/>
            <a:ext cx="4198144" cy="524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3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Ask / Next Steps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790218" y="1653778"/>
            <a:ext cx="13049964" cy="2483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Moving forward requires organizational alignment, appropriate resourcing, and a phased approach that prioritizes foundational work before dependent capabilities.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303770" y="2062639"/>
            <a:ext cx="22860" cy="4887635"/>
          </a:xfrm>
          <a:prstGeom prst="roundRect">
            <a:avLst>
              <a:gd name="adj" fmla="val 308525"/>
            </a:avLst>
          </a:prstGeom>
          <a:solidFill>
            <a:srgbClr val="19A319"/>
          </a:solidFill>
          <a:ln/>
        </p:spPr>
      </p:sp>
      <p:sp>
        <p:nvSpPr>
          <p:cNvPr id="8" name="Shape 5"/>
          <p:cNvSpPr/>
          <p:nvPr/>
        </p:nvSpPr>
        <p:spPr>
          <a:xfrm>
            <a:off x="7002304" y="2240042"/>
            <a:ext cx="335756" cy="22860"/>
          </a:xfrm>
          <a:prstGeom prst="roundRect">
            <a:avLst>
              <a:gd name="adj" fmla="val 308525"/>
            </a:avLst>
          </a:prstGeom>
          <a:solidFill>
            <a:srgbClr val="19A319"/>
          </a:solidFill>
          <a:ln/>
        </p:spPr>
      </p:sp>
      <p:sp>
        <p:nvSpPr>
          <p:cNvPr id="9" name="Shape 6"/>
          <p:cNvSpPr/>
          <p:nvPr/>
        </p:nvSpPr>
        <p:spPr>
          <a:xfrm>
            <a:off x="7252275" y="2188547"/>
            <a:ext cx="125849" cy="125849"/>
          </a:xfrm>
          <a:prstGeom prst="roundRect">
            <a:avLst>
              <a:gd name="adj" fmla="val 363293"/>
            </a:avLst>
          </a:prstGeom>
          <a:solidFill>
            <a:srgbClr val="008A00"/>
          </a:solidFill>
          <a:ln/>
        </p:spPr>
      </p:sp>
      <p:sp>
        <p:nvSpPr>
          <p:cNvPr id="10" name="Text 7"/>
          <p:cNvSpPr/>
          <p:nvPr/>
        </p:nvSpPr>
        <p:spPr>
          <a:xfrm>
            <a:off x="2317075" y="2120265"/>
            <a:ext cx="4326493" cy="2622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Align on Terraform Foundations as a Priority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790218" y="2468166"/>
            <a:ext cx="5853351" cy="496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Recognize this as critical infrastructure work, not a "nice to have" modernization effort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292340" y="3197066"/>
            <a:ext cx="335756" cy="22860"/>
          </a:xfrm>
          <a:prstGeom prst="roundRect">
            <a:avLst>
              <a:gd name="adj" fmla="val 308525"/>
            </a:avLst>
          </a:prstGeom>
          <a:solidFill>
            <a:srgbClr val="19A319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2275" y="3145572"/>
            <a:ext cx="125849" cy="125849"/>
          </a:xfrm>
          <a:prstGeom prst="roundRect">
            <a:avLst>
              <a:gd name="adj" fmla="val 363293"/>
            </a:avLst>
          </a:prstGeom>
          <a:solidFill>
            <a:srgbClr val="008A00"/>
          </a:solidFill>
          <a:ln/>
        </p:spPr>
      </p:sp>
      <p:sp>
        <p:nvSpPr>
          <p:cNvPr id="14" name="Text 11"/>
          <p:cNvSpPr/>
          <p:nvPr/>
        </p:nvSpPr>
        <p:spPr>
          <a:xfrm>
            <a:off x="7986832" y="3077289"/>
            <a:ext cx="3739515" cy="2622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Fund and Staff the Foundational Work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7986832" y="3425190"/>
            <a:ext cx="5853351" cy="496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Allocate dedicated engineering resources with infrastructure and automation expertise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002304" y="4040267"/>
            <a:ext cx="335756" cy="22860"/>
          </a:xfrm>
          <a:prstGeom prst="roundRect">
            <a:avLst>
              <a:gd name="adj" fmla="val 308525"/>
            </a:avLst>
          </a:prstGeom>
          <a:solidFill>
            <a:srgbClr val="19A319"/>
          </a:solidFill>
          <a:ln/>
        </p:spPr>
      </p:sp>
      <p:sp>
        <p:nvSpPr>
          <p:cNvPr id="17" name="Shape 14"/>
          <p:cNvSpPr/>
          <p:nvPr/>
        </p:nvSpPr>
        <p:spPr>
          <a:xfrm>
            <a:off x="7252275" y="3988772"/>
            <a:ext cx="125849" cy="125849"/>
          </a:xfrm>
          <a:prstGeom prst="roundRect">
            <a:avLst>
              <a:gd name="adj" fmla="val 363293"/>
            </a:avLst>
          </a:prstGeom>
          <a:solidFill>
            <a:srgbClr val="008A00"/>
          </a:solidFill>
          <a:ln/>
        </p:spPr>
      </p:sp>
      <p:sp>
        <p:nvSpPr>
          <p:cNvPr id="18" name="Text 15"/>
          <p:cNvSpPr/>
          <p:nvPr/>
        </p:nvSpPr>
        <p:spPr>
          <a:xfrm>
            <a:off x="3212187" y="3920490"/>
            <a:ext cx="3431381" cy="2622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Treat AI as a Dependent Capability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90218" y="4268391"/>
            <a:ext cx="5853351" cy="2483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 initiatives correctly: foundation first, AI capabilities second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292340" y="4883468"/>
            <a:ext cx="335756" cy="22860"/>
          </a:xfrm>
          <a:prstGeom prst="roundRect">
            <a:avLst>
              <a:gd name="adj" fmla="val 308525"/>
            </a:avLst>
          </a:prstGeom>
          <a:solidFill>
            <a:srgbClr val="19A319"/>
          </a:solidFill>
          <a:ln/>
        </p:spPr>
      </p:sp>
      <p:sp>
        <p:nvSpPr>
          <p:cNvPr id="21" name="Shape 18"/>
          <p:cNvSpPr/>
          <p:nvPr/>
        </p:nvSpPr>
        <p:spPr>
          <a:xfrm>
            <a:off x="7252275" y="4831973"/>
            <a:ext cx="125849" cy="125849"/>
          </a:xfrm>
          <a:prstGeom prst="roundRect">
            <a:avLst>
              <a:gd name="adj" fmla="val 363293"/>
            </a:avLst>
          </a:prstGeom>
          <a:solidFill>
            <a:srgbClr val="008A00"/>
          </a:solidFill>
          <a:ln/>
        </p:spPr>
      </p:sp>
      <p:sp>
        <p:nvSpPr>
          <p:cNvPr id="22" name="Text 19"/>
          <p:cNvSpPr/>
          <p:nvPr/>
        </p:nvSpPr>
        <p:spPr>
          <a:xfrm>
            <a:off x="7986832" y="4763691"/>
            <a:ext cx="3595449" cy="2622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Measure Success Through Outcomes</a:t>
            </a:r>
            <a:endParaRPr lang="en-US" sz="1650" dirty="0"/>
          </a:p>
        </p:txBody>
      </p:sp>
      <p:sp>
        <p:nvSpPr>
          <p:cNvPr id="23" name="Text 20"/>
          <p:cNvSpPr/>
          <p:nvPr/>
        </p:nvSpPr>
        <p:spPr>
          <a:xfrm>
            <a:off x="7986832" y="5111591"/>
            <a:ext cx="5853351" cy="2483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 incident reduction, deployment velocity, and service enablement speed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002304" y="5726668"/>
            <a:ext cx="335756" cy="22860"/>
          </a:xfrm>
          <a:prstGeom prst="roundRect">
            <a:avLst>
              <a:gd name="adj" fmla="val 308525"/>
            </a:avLst>
          </a:prstGeom>
          <a:solidFill>
            <a:srgbClr val="19A319"/>
          </a:solidFill>
          <a:ln/>
        </p:spPr>
      </p:sp>
      <p:sp>
        <p:nvSpPr>
          <p:cNvPr id="25" name="Shape 22"/>
          <p:cNvSpPr/>
          <p:nvPr/>
        </p:nvSpPr>
        <p:spPr>
          <a:xfrm>
            <a:off x="7252275" y="5675174"/>
            <a:ext cx="125849" cy="125849"/>
          </a:xfrm>
          <a:prstGeom prst="roundRect">
            <a:avLst>
              <a:gd name="adj" fmla="val 363293"/>
            </a:avLst>
          </a:prstGeom>
          <a:solidFill>
            <a:srgbClr val="008A00"/>
          </a:solidFill>
          <a:ln/>
        </p:spPr>
      </p:sp>
      <p:sp>
        <p:nvSpPr>
          <p:cNvPr id="26" name="Text 23"/>
          <p:cNvSpPr/>
          <p:nvPr/>
        </p:nvSpPr>
        <p:spPr>
          <a:xfrm>
            <a:off x="1670328" y="5606891"/>
            <a:ext cx="4973241" cy="2622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Plan Extension to Ansible After Terraform Stability</a:t>
            </a:r>
            <a:endParaRPr lang="en-US" sz="1650" dirty="0"/>
          </a:p>
        </p:txBody>
      </p:sp>
      <p:sp>
        <p:nvSpPr>
          <p:cNvPr id="27" name="Text 24"/>
          <p:cNvSpPr/>
          <p:nvPr/>
        </p:nvSpPr>
        <p:spPr>
          <a:xfrm>
            <a:off x="790218" y="5954792"/>
            <a:ext cx="5853351" cy="496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Apply the proven model to AAP only after Terraform Foundations deliver results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790218" y="7164348"/>
            <a:ext cx="9990177" cy="524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300" b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Build the foundation once. </a:t>
            </a:r>
            <a:pPr algn="l" indent="0" marL="0">
              <a:lnSpc>
                <a:spcPts val="4100"/>
              </a:lnSpc>
              <a:buNone/>
            </a:pPr>
            <a:r>
              <a:rPr lang="en-US" sz="3300" b="1" i="1" dirty="0">
                <a:solidFill>
                  <a:srgbClr val="008A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Leverage it everywhere.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2026-01-22T13:51:28Z</dcterms:created>
  <dcterms:modified xsi:type="dcterms:W3CDTF">2026-01-22T13:51:28Z</dcterms:modified>
</cp:coreProperties>
</file>