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4630400" cy="8229600"/>
  <p:notesSz cx="8229600" cy="14630400"/>
  <p:embeddedFontLst>
    <p:embeddedFont>
      <p:font typeface="IBM Plex Sans"/>
      <p:regular r:id="rId26"/>
    </p:embeddedFont>
    <p:embeddedFont>
      <p:font typeface="IBM Plex Sans"/>
      <p:regular r:id="rId27"/>
    </p:embeddedFont>
    <p:embeddedFont>
      <p:font typeface="IBM Plex Sans"/>
      <p:regular r:id="rId28"/>
    </p:embeddedFont>
    <p:embeddedFont>
      <p:font typeface="IBM Plex Sans"/>
      <p:regular r:id="rId29"/>
    </p:embeddedFont>
    <p:embeddedFont>
      <p:font typeface="IBM Plex Sans"/>
      <p:regular r:id="rId30"/>
    </p:embeddedFont>
    <p:embeddedFont>
      <p:font typeface="IBM Plex Sans"/>
      <p:regular r:id="rId31"/>
    </p:embeddedFont>
    <p:embeddedFont>
      <p:font typeface="IBM Plex Sans"/>
      <p:regular r:id="rId32"/>
    </p:embeddedFont>
    <p:embeddedFont>
      <p:font typeface="IBM Plex Sans"/>
      <p:regular r:id="rId3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7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svg"/><Relationship Id="rId14" Type="http://schemas.openxmlformats.org/officeDocument/2006/relationships/slideLayout" Target="../slideLayouts/slideLayout12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3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sv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sv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7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14995"/>
            <a:ext cx="531459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Foundations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514368"/>
            <a:ext cx="755642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AF964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Establishing the Technical Foundation for Consistent Infrastructure, Governance, and AI Reasoning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55616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Scott Tully (Principal Engineer)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09694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January 21,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674727"/>
            <a:ext cx="1275874" cy="255984"/>
          </a:xfrm>
          <a:prstGeom prst="roundRect">
            <a:avLst>
              <a:gd name="adj" fmla="val 19539"/>
            </a:avLst>
          </a:prstGeom>
          <a:solidFill>
            <a:srgbClr val="DDEEDD"/>
          </a:solidFill>
          <a:ln/>
        </p:spPr>
      </p:sp>
      <p:sp>
        <p:nvSpPr>
          <p:cNvPr id="4" name="Text 1"/>
          <p:cNvSpPr/>
          <p:nvPr/>
        </p:nvSpPr>
        <p:spPr>
          <a:xfrm>
            <a:off x="6369487" y="719376"/>
            <a:ext cx="10972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FIRST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80190" y="975360"/>
            <a:ext cx="655296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This Matters (Context, Not Hype)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280190" y="1607939"/>
            <a:ext cx="755642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initiative is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E6F3E6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an AI project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It is a </a:t>
            </a:r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Foundations program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designed to establish enterprise-grade infrastructure practices that will serve as the bedrock for years to come.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80190" y="2150150"/>
            <a:ext cx="7556421" cy="531852"/>
          </a:xfrm>
          <a:prstGeom prst="roundRect">
            <a:avLst>
              <a:gd name="adj" fmla="val 11755"/>
            </a:avLst>
          </a:prstGeom>
          <a:solidFill>
            <a:srgbClr val="CBE6C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18" y="2365891"/>
            <a:ext cx="185976" cy="1488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3822" y="2298859"/>
            <a:ext cx="692396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becomes effective </a:t>
            </a:r>
            <a:pPr algn="l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after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foundation is consistent, structured, and reliable.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2807494"/>
            <a:ext cx="372070" cy="3720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80190" y="3319105"/>
            <a:ext cx="216372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Reduces operational risk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280190" y="3618548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Eliminate recurring failure patterns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4050149"/>
            <a:ext cx="372070" cy="3720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0190" y="4561761"/>
            <a:ext cx="231207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Improves delivery velocity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280190" y="4861203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Faster, more predictable releases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0190" y="5292804"/>
            <a:ext cx="372070" cy="3720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80190" y="5804416"/>
            <a:ext cx="350662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Standardizes infrastructure enablement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280190" y="6103858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patterns across teams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0190" y="6535460"/>
            <a:ext cx="372070" cy="3720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80190" y="7047071"/>
            <a:ext cx="280213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Creates machine-readable truth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6280190" y="7346513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for future AI systems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6997"/>
            <a:ext cx="1655564" cy="373142"/>
          </a:xfrm>
          <a:prstGeom prst="roundRect">
            <a:avLst>
              <a:gd name="adj" fmla="val 17872"/>
            </a:avLst>
          </a:prstGeom>
          <a:solidFill>
            <a:srgbClr val="E6F3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52" y="844153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796528"/>
            <a:ext cx="11794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ISSUE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189434"/>
            <a:ext cx="122837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Current State: Terraform as an Enterprise Bottleneck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21071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Based on comprehensive incident data and operational analysis conducted across platform and line-of-business teams, a clear pattern of systemic failure has emerged.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064669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89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1152287" y="3967639"/>
            <a:ext cx="34651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Incidents Analyzed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3790" y="4396859"/>
            <a:ext cx="41821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Comprehensive review of failures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223986" y="3064669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$800K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6040041" y="3967639"/>
            <a:ext cx="25500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Minimum Annual Cost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223986" y="4396859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Conservative estimate of impact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654302" y="3064669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$2.5M+</a:t>
            </a:r>
            <a:endParaRPr lang="en-US" sz="5150" dirty="0"/>
          </a:p>
        </p:txBody>
      </p:sp>
      <p:sp>
        <p:nvSpPr>
          <p:cNvPr id="14" name="Text 11"/>
          <p:cNvSpPr/>
          <p:nvPr/>
        </p:nvSpPr>
        <p:spPr>
          <a:xfrm>
            <a:off x="10439757" y="3967639"/>
            <a:ext cx="26112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Maximum Annual Cost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654302" y="4396859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enterprise impact model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3790" y="5012055"/>
            <a:ext cx="39441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Repeated Failure Categories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93790" y="586037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management corruption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requiring manual recovery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93790" y="62473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instability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causing deployment delays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564874" y="586037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quality inconsistencies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across teams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564874" y="62473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Provider and version drift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creating compatibility issues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93790" y="68575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cumulative effect creates a high support burden across platform engineering and LOB infrastructure teams, draining resources that could be applied to strategic initiatives.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6029"/>
            <a:ext cx="512087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Core Problem (Technical)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36017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What's Missing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3956090" y="1764625"/>
            <a:ext cx="15240" cy="5723334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5" name="Shape 3"/>
          <p:cNvSpPr/>
          <p:nvPr/>
        </p:nvSpPr>
        <p:spPr>
          <a:xfrm>
            <a:off x="3681293" y="1924407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6" name="Shape 4"/>
          <p:cNvSpPr/>
          <p:nvPr/>
        </p:nvSpPr>
        <p:spPr>
          <a:xfrm>
            <a:off x="3907929" y="1876246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7" name="Text 5"/>
          <p:cNvSpPr/>
          <p:nvPr/>
        </p:nvSpPr>
        <p:spPr>
          <a:xfrm>
            <a:off x="1042749" y="1815703"/>
            <a:ext cx="232564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Consistent Lifecycle Model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90" y="2159794"/>
            <a:ext cx="2574608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standardized approach to module evolution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8470" y="2742962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10" name="Shape 8"/>
          <p:cNvSpPr/>
          <p:nvPr/>
        </p:nvSpPr>
        <p:spPr>
          <a:xfrm>
            <a:off x="3907929" y="2694801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11" name="Text 9"/>
          <p:cNvSpPr/>
          <p:nvPr/>
        </p:nvSpPr>
        <p:spPr>
          <a:xfrm>
            <a:off x="4559022" y="2634258"/>
            <a:ext cx="241494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Enforced Module Standards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9022" y="2978348"/>
            <a:ext cx="257460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varies dramatically by team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81293" y="3475434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14" name="Shape 12"/>
          <p:cNvSpPr/>
          <p:nvPr/>
        </p:nvSpPr>
        <p:spPr>
          <a:xfrm>
            <a:off x="3907929" y="3427274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15" name="Text 13"/>
          <p:cNvSpPr/>
          <p:nvPr/>
        </p:nvSpPr>
        <p:spPr>
          <a:xfrm>
            <a:off x="900232" y="3366730"/>
            <a:ext cx="246816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Predictable Repo Structures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3790" y="3710821"/>
            <a:ext cx="257460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repository organized differently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48470" y="4208026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18" name="Shape 16"/>
          <p:cNvSpPr/>
          <p:nvPr/>
        </p:nvSpPr>
        <p:spPr>
          <a:xfrm>
            <a:off x="3907929" y="4159865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4559022" y="4099322"/>
            <a:ext cx="224385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Validated Inputs/Outputs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59022" y="4443413"/>
            <a:ext cx="2574608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contracts undefined or unenforced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81293" y="4940618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22" name="Shape 20"/>
          <p:cNvSpPr/>
          <p:nvPr/>
        </p:nvSpPr>
        <p:spPr>
          <a:xfrm>
            <a:off x="3907929" y="4892457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12" y="4831913"/>
            <a:ext cx="250888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Machine-Readable Metadata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93790" y="5176004"/>
            <a:ext cx="2574608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information locked in tribal knowledge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48470" y="5673209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26" name="Shape 24"/>
          <p:cNvSpPr/>
          <p:nvPr/>
        </p:nvSpPr>
        <p:spPr>
          <a:xfrm>
            <a:off x="3907929" y="5625048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27" name="Text 25"/>
          <p:cNvSpPr/>
          <p:nvPr/>
        </p:nvSpPr>
        <p:spPr>
          <a:xfrm>
            <a:off x="4559022" y="5564505"/>
            <a:ext cx="209395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Dependency Awareness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59022" y="5908596"/>
            <a:ext cx="2574608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coupling causes cascade failures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81293" y="6405801"/>
            <a:ext cx="297656" cy="15240"/>
          </a:xfrm>
          <a:prstGeom prst="roundRect">
            <a:avLst>
              <a:gd name="adj" fmla="val 410233"/>
            </a:avLst>
          </a:prstGeom>
          <a:solidFill>
            <a:srgbClr val="957C2C"/>
          </a:solidFill>
          <a:ln/>
        </p:spPr>
      </p:sp>
      <p:sp>
        <p:nvSpPr>
          <p:cNvPr id="30" name="Shape 28"/>
          <p:cNvSpPr/>
          <p:nvPr/>
        </p:nvSpPr>
        <p:spPr>
          <a:xfrm>
            <a:off x="3907929" y="6357640"/>
            <a:ext cx="111562" cy="111562"/>
          </a:xfrm>
          <a:prstGeom prst="roundRect">
            <a:avLst>
              <a:gd name="adj" fmla="val 409817"/>
            </a:avLst>
          </a:prstGeom>
          <a:solidFill>
            <a:srgbClr val="AF9646"/>
          </a:solidFill>
          <a:ln/>
        </p:spPr>
      </p:sp>
      <p:sp>
        <p:nvSpPr>
          <p:cNvPr id="31" name="Text 29"/>
          <p:cNvSpPr/>
          <p:nvPr/>
        </p:nvSpPr>
        <p:spPr>
          <a:xfrm>
            <a:off x="1223724" y="6297097"/>
            <a:ext cx="214467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 Impact Visibility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93790" y="6641187"/>
            <a:ext cx="2574608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Changes propagate with unknown consequences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04390" y="136017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This Creates</a:t>
            </a:r>
            <a:endParaRPr lang="en-US" sz="17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4390" y="1764625"/>
            <a:ext cx="2325053" cy="1436965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04390" y="331315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Fragile Pipelines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504390" y="3657243"/>
            <a:ext cx="310014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Deployments fail unpredictably</a:t>
            </a:r>
            <a:endParaRPr lang="en-US" sz="11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081" y="1764625"/>
            <a:ext cx="2325053" cy="143696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0744081" y="331315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Manual Recovery</a:t>
            </a:r>
            <a:endParaRPr lang="en-US" sz="1450" dirty="0"/>
          </a:p>
        </p:txBody>
      </p:sp>
      <p:sp>
        <p:nvSpPr>
          <p:cNvPr id="39" name="Text 35"/>
          <p:cNvSpPr/>
          <p:nvPr/>
        </p:nvSpPr>
        <p:spPr>
          <a:xfrm>
            <a:off x="10744081" y="3657243"/>
            <a:ext cx="310014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Engineers spend days fixing state</a:t>
            </a:r>
            <a:endParaRPr lang="en-US" sz="115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90" y="4088844"/>
            <a:ext cx="2325053" cy="143696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504390" y="563737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Tribal Knowledge</a:t>
            </a:r>
            <a:endParaRPr lang="en-US" sz="1450" dirty="0"/>
          </a:p>
        </p:txBody>
      </p:sp>
      <p:sp>
        <p:nvSpPr>
          <p:cNvPr id="42" name="Text 37"/>
          <p:cNvSpPr/>
          <p:nvPr/>
        </p:nvSpPr>
        <p:spPr>
          <a:xfrm>
            <a:off x="7504390" y="5981462"/>
            <a:ext cx="310014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expertise trapped in heads</a:t>
            </a:r>
            <a:endParaRPr lang="en-US" sz="115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81" y="4088844"/>
            <a:ext cx="2325053" cy="1436965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0744081" y="5637371"/>
            <a:ext cx="222599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Slow Service Enablement</a:t>
            </a:r>
            <a:endParaRPr lang="en-US" sz="1450" dirty="0"/>
          </a:p>
        </p:txBody>
      </p:sp>
      <p:sp>
        <p:nvSpPr>
          <p:cNvPr id="45" name="Text 39"/>
          <p:cNvSpPr/>
          <p:nvPr/>
        </p:nvSpPr>
        <p:spPr>
          <a:xfrm>
            <a:off x="10744081" y="5981462"/>
            <a:ext cx="310014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Weeks or months to onboard services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503" y="542687"/>
            <a:ext cx="2068116" cy="346353"/>
          </a:xfrm>
          <a:prstGeom prst="roundRect">
            <a:avLst>
              <a:gd name="adj" fmla="val 18190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901898" y="598884"/>
            <a:ext cx="18433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9503" y="960239"/>
            <a:ext cx="10099477" cy="58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Foundations: What We Are Building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89503" y="1813322"/>
            <a:ext cx="13051393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comprehensive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Lifecycle Management (TFLM)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foundation that establishes enterprise-wide standards and automation for how infrastructure-as-code is created, validated, versioned, and evolved.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9503" y="2598777"/>
            <a:ext cx="4231719" cy="2115503"/>
          </a:xfrm>
          <a:prstGeom prst="roundRect">
            <a:avLst>
              <a:gd name="adj" fmla="val 3723"/>
            </a:avLst>
          </a:prstGeom>
          <a:solidFill>
            <a:srgbClr val="DDEEDD"/>
          </a:solidFill>
          <a:ln w="7620">
            <a:solidFill>
              <a:srgbClr val="E6F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4528" y="2793802"/>
            <a:ext cx="562451" cy="562451"/>
          </a:xfrm>
          <a:prstGeom prst="roundRect">
            <a:avLst>
              <a:gd name="adj" fmla="val 16255790"/>
            </a:avLst>
          </a:prstGeom>
          <a:solidFill>
            <a:srgbClr val="E6F3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190" y="2948345"/>
            <a:ext cx="253127" cy="2531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4528" y="3534370"/>
            <a:ext cx="3622119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Terraform modules are built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4528" y="3934182"/>
            <a:ext cx="3841671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Standardized structure and composition patterns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199340" y="2598777"/>
            <a:ext cx="4231719" cy="2115503"/>
          </a:xfrm>
          <a:prstGeom prst="roundRect">
            <a:avLst>
              <a:gd name="adj" fmla="val 3723"/>
            </a:avLst>
          </a:prstGeom>
          <a:solidFill>
            <a:srgbClr val="DDEEDD"/>
          </a:solidFill>
          <a:ln w="7620">
            <a:solidFill>
              <a:srgbClr val="CCE8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94365" y="2793802"/>
            <a:ext cx="562451" cy="562451"/>
          </a:xfrm>
          <a:prstGeom prst="roundRect">
            <a:avLst>
              <a:gd name="adj" fmla="val 16255790"/>
            </a:avLst>
          </a:prstGeom>
          <a:solidFill>
            <a:srgbClr val="CCE8C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9027" y="2948345"/>
            <a:ext cx="253127" cy="2531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365" y="3534370"/>
            <a:ext cx="2538174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they are validated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394365" y="3934182"/>
            <a:ext cx="3841671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quality gates and evidence generation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9609177" y="2598777"/>
            <a:ext cx="4231719" cy="2115503"/>
          </a:xfrm>
          <a:prstGeom prst="roundRect">
            <a:avLst>
              <a:gd name="adj" fmla="val 3723"/>
            </a:avLst>
          </a:prstGeom>
          <a:solidFill>
            <a:srgbClr val="DDEEDD"/>
          </a:solidFill>
          <a:ln w="7620">
            <a:solidFill>
              <a:srgbClr val="E6F3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804202" y="2793802"/>
            <a:ext cx="562451" cy="562451"/>
          </a:xfrm>
          <a:prstGeom prst="roundRect">
            <a:avLst>
              <a:gd name="adj" fmla="val 16255790"/>
            </a:avLst>
          </a:prstGeom>
          <a:solidFill>
            <a:srgbClr val="E6F3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8864" y="2948345"/>
            <a:ext cx="253127" cy="2531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04202" y="3534370"/>
            <a:ext cx="2519601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they evolve safely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804202" y="3934182"/>
            <a:ext cx="3841671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Controlled versioning with impact analysis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89503" y="4892397"/>
            <a:ext cx="6436638" cy="1822966"/>
          </a:xfrm>
          <a:prstGeom prst="roundRect">
            <a:avLst>
              <a:gd name="adj" fmla="val 4320"/>
            </a:avLst>
          </a:prstGeom>
          <a:solidFill>
            <a:srgbClr val="DDEEDD"/>
          </a:solidFill>
          <a:ln w="7620">
            <a:solidFill>
              <a:srgbClr val="CCE8C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84528" y="5087422"/>
            <a:ext cx="562451" cy="562451"/>
          </a:xfrm>
          <a:prstGeom prst="roundRect">
            <a:avLst>
              <a:gd name="adj" fmla="val 16255790"/>
            </a:avLst>
          </a:prstGeom>
          <a:solidFill>
            <a:srgbClr val="CCE8C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9190" y="5241965"/>
            <a:ext cx="253127" cy="25312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4528" y="5827990"/>
            <a:ext cx="3399234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dependencies are tracked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84528" y="6227802"/>
            <a:ext cx="6046589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relationship mapping across services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7404259" y="4892397"/>
            <a:ext cx="6436638" cy="1822966"/>
          </a:xfrm>
          <a:prstGeom prst="roundRect">
            <a:avLst>
              <a:gd name="adj" fmla="val 4320"/>
            </a:avLst>
          </a:prstGeom>
          <a:solidFill>
            <a:srgbClr val="DDEEDD"/>
          </a:solidFill>
          <a:ln w="7620">
            <a:solidFill>
              <a:srgbClr val="E6F3E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99283" y="5087422"/>
            <a:ext cx="562451" cy="562451"/>
          </a:xfrm>
          <a:prstGeom prst="roundRect">
            <a:avLst>
              <a:gd name="adj" fmla="val 16255790"/>
            </a:avLst>
          </a:prstGeom>
          <a:solidFill>
            <a:srgbClr val="E6F3E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3945" y="5241965"/>
            <a:ext cx="253127" cy="25312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99283" y="5827990"/>
            <a:ext cx="3104793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How standards are enforced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7599283" y="6227802"/>
            <a:ext cx="6046589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Policy-as-code with automated compliance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789503" y="6915745"/>
            <a:ext cx="13051393" cy="771406"/>
          </a:xfrm>
          <a:prstGeom prst="roundRect">
            <a:avLst>
              <a:gd name="adj" fmla="val 10209"/>
            </a:avLst>
          </a:prstGeom>
          <a:solidFill>
            <a:srgbClr val="D2BE9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908" y="7199233"/>
            <a:ext cx="234315" cy="1874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98627" y="7140654"/>
            <a:ext cx="12254865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becomes the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of record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infrastructure enablement across the entire enterprise.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636"/>
            <a:ext cx="85340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Foundations – Core Pillars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1154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interconnected pillars form the architectural foundation, each reducing operational risk while simultaneously increasing the system's ability to support advanced reasoning capabilities.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36652" y="3058001"/>
            <a:ext cx="39976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Standardized Module Architecture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487222"/>
            <a:ext cx="4040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structure and interfaces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7641" y="3520142"/>
            <a:ext cx="296942" cy="2969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95986" y="3058001"/>
            <a:ext cx="32817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Consistent Repo Archetypes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795986" y="3487222"/>
            <a:ext cx="4040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Predictable organization patterns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5460" y="3520142"/>
            <a:ext cx="296942" cy="2969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94463" y="4678918"/>
            <a:ext cx="30353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Schema-Driven Validation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9994463" y="5108138"/>
            <a:ext cx="38421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quality enforcement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4250" y="4903768"/>
            <a:ext cx="296942" cy="29694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95986" y="6299835"/>
            <a:ext cx="27459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Automated Governance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795986" y="6729055"/>
            <a:ext cx="4040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enforcement without friction</a:t>
            </a:r>
            <a:endParaRPr lang="en-US" sz="15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5460" y="6287393"/>
            <a:ext cx="296942" cy="29694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488638" y="6299835"/>
            <a:ext cx="33456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Machine-Readable Metadata</a:t>
            </a:r>
            <a:endParaRPr lang="en-US" sz="1950" dirty="0"/>
          </a:p>
        </p:txBody>
      </p:sp>
      <p:sp>
        <p:nvSpPr>
          <p:cNvPr id="21" name="Text 11"/>
          <p:cNvSpPr/>
          <p:nvPr/>
        </p:nvSpPr>
        <p:spPr>
          <a:xfrm>
            <a:off x="793790" y="6729055"/>
            <a:ext cx="4040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Structured, queryable information</a:t>
            </a:r>
            <a:endParaRPr lang="en-US" sz="15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67641" y="6287393"/>
            <a:ext cx="296942" cy="29694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2154912" y="46789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AI-Ready Artifacts</a:t>
            </a:r>
            <a:endParaRPr lang="en-US" sz="1950" dirty="0"/>
          </a:p>
        </p:txBody>
      </p:sp>
      <p:sp>
        <p:nvSpPr>
          <p:cNvPr id="25" name="Text 13"/>
          <p:cNvSpPr/>
          <p:nvPr/>
        </p:nvSpPr>
        <p:spPr>
          <a:xfrm>
            <a:off x="793790" y="5108138"/>
            <a:ext cx="38420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for intelligent systems</a:t>
            </a:r>
            <a:endParaRPr lang="en-US" sz="15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2653" y="2769870"/>
            <a:ext cx="4564975" cy="4564975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68851" y="4903768"/>
            <a:ext cx="296942" cy="296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83525"/>
            <a:ext cx="716518" cy="278130"/>
          </a:xfrm>
          <a:prstGeom prst="roundRect">
            <a:avLst>
              <a:gd name="adj" fmla="val 19182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631150"/>
            <a:ext cx="5260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912376"/>
            <a:ext cx="834068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Standardized Terraform Module Architecture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1713309"/>
            <a:ext cx="6999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Terraform services across the enterprise are built as well-defined modules following a consistent architectural pattern that ensures predictability, maintainability, and safe composition.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297430"/>
            <a:ext cx="248554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Required Components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93790" y="2822258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6F3E6"/>
          </a:solidFill>
          <a:ln/>
        </p:spPr>
      </p:sp>
      <p:sp>
        <p:nvSpPr>
          <p:cNvPr id="8" name="Text 6"/>
          <p:cNvSpPr/>
          <p:nvPr/>
        </p:nvSpPr>
        <p:spPr>
          <a:xfrm>
            <a:off x="1000006" y="2737961"/>
            <a:ext cx="253365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Defined inputs and outputs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0006" y="3112889"/>
            <a:ext cx="6792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interface contracts with type validation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790" y="3679746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6F3E6"/>
          </a:solidFill>
          <a:ln/>
        </p:spPr>
      </p:sp>
      <p:sp>
        <p:nvSpPr>
          <p:cNvPr id="11" name="Text 9"/>
          <p:cNvSpPr/>
          <p:nvPr/>
        </p:nvSpPr>
        <p:spPr>
          <a:xfrm>
            <a:off x="1000006" y="3595449"/>
            <a:ext cx="232445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Required version pinning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0006" y="3970377"/>
            <a:ext cx="6792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and provider versions explicitly specified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3790" y="4537234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6F3E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0006" y="445293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Provider constraints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0006" y="4827865"/>
            <a:ext cx="6792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Compatible provider versions documented and enforced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5394722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6F3E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006" y="5310426"/>
            <a:ext cx="205442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Explicit dependencies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00006" y="5685353"/>
            <a:ext cx="6792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module relationships clearly declared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790" y="6252210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6F3E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006" y="6167914"/>
            <a:ext cx="20487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Documented behavior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00006" y="6542842"/>
            <a:ext cx="6792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Human-readable docs + machine-readable metadata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790" y="6914317"/>
            <a:ext cx="6999208" cy="588764"/>
          </a:xfrm>
          <a:prstGeom prst="roundRect">
            <a:avLst>
              <a:gd name="adj" fmla="val 11327"/>
            </a:avLst>
          </a:prstGeom>
          <a:solidFill>
            <a:srgbClr val="D2BE91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141369"/>
            <a:ext cx="198358" cy="15871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09568" y="7080885"/>
            <a:ext cx="6324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Modules are composed by root configurations — never ad hoc or directly modified.</a:t>
            </a:r>
            <a:endParaRPr lang="en-US" sz="12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809" y="1741884"/>
            <a:ext cx="4524970" cy="4524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6285"/>
            <a:ext cx="671513" cy="255984"/>
          </a:xfrm>
          <a:prstGeom prst="roundRect">
            <a:avLst>
              <a:gd name="adj" fmla="val 19539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883087" y="800933"/>
            <a:ext cx="49291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1056918"/>
            <a:ext cx="4872633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Repo Archetypes (Enforced)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93790" y="1689497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repository in the enterprise declares its archetype, establishing a contract that determines structure, validation requirements, and expected behaviors.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3790" y="2023348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6F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030" y="2038588"/>
            <a:ext cx="595313" cy="862608"/>
          </a:xfrm>
          <a:prstGeom prst="roundRect">
            <a:avLst>
              <a:gd name="adj" fmla="val 7430"/>
            </a:avLst>
          </a:prstGeom>
          <a:solidFill>
            <a:srgbClr val="E6F3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195" y="2358152"/>
            <a:ext cx="223242" cy="2232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5904" y="2187416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Module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15904" y="2486858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Reusable infrastructure components with defined inputs, outputs, and dependencies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3790" y="3027998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CE8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9030" y="3043237"/>
            <a:ext cx="595313" cy="862608"/>
          </a:xfrm>
          <a:prstGeom prst="roundRect">
            <a:avLst>
              <a:gd name="adj" fmla="val 7430"/>
            </a:avLst>
          </a:prstGeom>
          <a:solidFill>
            <a:srgbClr val="CCE8C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195" y="3362801"/>
            <a:ext cx="223242" cy="2232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15904" y="3192066"/>
            <a:ext cx="258413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Root / Composition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15904" y="3491508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 layer that combines modules into complete environments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3790" y="4032647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2BE9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030" y="4047887"/>
            <a:ext cx="595313" cy="862608"/>
          </a:xfrm>
          <a:prstGeom prst="roundRect">
            <a:avLst>
              <a:gd name="adj" fmla="val 7430"/>
            </a:avLst>
          </a:prstGeom>
          <a:solidFill>
            <a:srgbClr val="D2BE9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195" y="4367451"/>
            <a:ext cx="223242" cy="2232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15904" y="4196715"/>
            <a:ext cx="257984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Metadata / Catalog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15904" y="4496157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registry and metadata repository for discovery and reasoning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93790" y="5037296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AF964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9030" y="5052536"/>
            <a:ext cx="595313" cy="862608"/>
          </a:xfrm>
          <a:prstGeom prst="roundRect">
            <a:avLst>
              <a:gd name="adj" fmla="val 7430"/>
            </a:avLst>
          </a:prstGeom>
          <a:solidFill>
            <a:srgbClr val="AF96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1195" y="5372100"/>
            <a:ext cx="223242" cy="2232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15904" y="5201364"/>
            <a:ext cx="297977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Future: Config, Application, Policy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515904" y="5500807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Extensible model ready for additional artifact types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93790" y="6097786"/>
            <a:ext cx="258568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Archetypes Enable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793790" y="6644521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files: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Standard structure enforced automatically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93790" y="6891933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rules: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Quality gates specific to archetype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504390" y="6644521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Allowed behaviors: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 rails prevent misuse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504390" y="6891933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 expectations: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Automated pipeline configuration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93790" y="7264837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architectural pattern enables consistent automation and systematic reasoning across all infrastructure artifacts.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5801"/>
            <a:ext cx="895826" cy="373142"/>
          </a:xfrm>
          <a:prstGeom prst="roundRect">
            <a:avLst>
              <a:gd name="adj" fmla="val 17872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55333"/>
            <a:ext cx="6577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48239"/>
            <a:ext cx="85519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Validation as a First-Class Capability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06597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piece of Terraform code passes through a comprehensive, automated validation pipeline that produces objective evidence of quality and compliance.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292429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238619"/>
            <a:ext cx="4215289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3383518"/>
            <a:ext cx="32119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Native Validation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3812738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Syntax, type checking, and internal consistency using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207437" y="292429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3238619"/>
            <a:ext cx="4215408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12" name="Text 10"/>
          <p:cNvSpPr/>
          <p:nvPr/>
        </p:nvSpPr>
        <p:spPr>
          <a:xfrm>
            <a:off x="5207437" y="3383518"/>
            <a:ext cx="35009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Static Analysis (IaC Scanning)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207437" y="3812738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vulnerabilities, misconfigurations, and policy violations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21203" y="292429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3238619"/>
            <a:ext cx="4215289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16" name="Text 14"/>
          <p:cNvSpPr/>
          <p:nvPr/>
        </p:nvSpPr>
        <p:spPr>
          <a:xfrm>
            <a:off x="9621203" y="3383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Schema Checks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21203" y="3812738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contracts, metadata completeness, and archetype compliance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47950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5109329"/>
            <a:ext cx="6422112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52542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Dependency Checks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3790" y="5683448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compatibility, breaking changes, and transitive dependencies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414260" y="47950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4260" y="5109329"/>
            <a:ext cx="6422231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24" name="Text 22"/>
          <p:cNvSpPr/>
          <p:nvPr/>
        </p:nvSpPr>
        <p:spPr>
          <a:xfrm>
            <a:off x="7414260" y="5254228"/>
            <a:ext cx="34099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 Compatibility Checks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414260" y="5683448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Provider version ranges, Terraform version requirements, and upgrade paths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93790" y="6690598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E6F3E6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993493"/>
            <a:ext cx="248007" cy="19835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38513" y="693848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produces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opinions. Results are structured, versioned, and queryable for audit and compliance purposes.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8790"/>
            <a:ext cx="940713" cy="278130"/>
          </a:xfrm>
          <a:prstGeom prst="roundRect">
            <a:avLst>
              <a:gd name="adj" fmla="val 19182"/>
            </a:avLst>
          </a:prstGeom>
          <a:solidFill>
            <a:srgbClr val="E6F3E6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846415"/>
            <a:ext cx="7502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4 &amp;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127641"/>
            <a:ext cx="530256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Metadata: The Missing Layer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1814274"/>
            <a:ext cx="13042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Terraform artifact—modules, compositions, and configurations—produces rich, structured metadata that answers critical operational questions previously locked in tribal knowledge or scattered documentation.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541270"/>
            <a:ext cx="277891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Key Questions Answered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93790" y="2981801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DEEDD"/>
          </a:solidFill>
          <a:ln w="7620">
            <a:solidFill>
              <a:srgbClr val="C3D4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7898" y="3036332"/>
            <a:ext cx="251221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does this module do?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77898" y="3411260"/>
            <a:ext cx="58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Purpose, capabilities, and intended use cases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790" y="3893820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DEEDD"/>
          </a:solidFill>
          <a:ln w="7620">
            <a:solidFill>
              <a:srgbClr val="C3D4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7898" y="3948351"/>
            <a:ext cx="27947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services does it expose?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77898" y="4323278"/>
            <a:ext cx="58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APIs, endpoints, and integration points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3790" y="4805839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DEEDD"/>
          </a:solidFill>
          <a:ln w="7620">
            <a:solidFill>
              <a:srgbClr val="C3D4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7898" y="4860369"/>
            <a:ext cx="244566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dependencies exist?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77898" y="5235297"/>
            <a:ext cx="58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modules, providers, and external services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5717858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DEEDD"/>
          </a:solidFill>
          <a:ln w="7620">
            <a:solidFill>
              <a:srgbClr val="C3D4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77898" y="5772388"/>
            <a:ext cx="28734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versions are compatible?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77898" y="6147316"/>
            <a:ext cx="58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Supported Terraform and provider version ranges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790" y="6629876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DEEDD"/>
          </a:solidFill>
          <a:ln w="7620">
            <a:solidFill>
              <a:srgbClr val="C3D4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77898" y="6684407"/>
            <a:ext cx="328529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environments are supported?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277898" y="7059335"/>
            <a:ext cx="58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Development, staging, production readiness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16416" y="2541270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Metadata Properties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7516416" y="2981801"/>
            <a:ext cx="6327815" cy="936188"/>
          </a:xfrm>
          <a:prstGeom prst="roundRect">
            <a:avLst>
              <a:gd name="adj" fmla="val 7123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2746" y="31481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Structured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82746" y="3523059"/>
            <a:ext cx="59951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JSON/YAML schemas with validation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16416" y="4044910"/>
            <a:ext cx="6327815" cy="936188"/>
          </a:xfrm>
          <a:prstGeom prst="roundRect">
            <a:avLst>
              <a:gd name="adj" fmla="val 7123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2746" y="421124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Queryable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682746" y="4586168"/>
            <a:ext cx="59951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Search, filter, and analyze at scale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16416" y="5108019"/>
            <a:ext cx="6327815" cy="936188"/>
          </a:xfrm>
          <a:prstGeom prst="roundRect">
            <a:avLst>
              <a:gd name="adj" fmla="val 7123"/>
            </a:avLst>
          </a:prstGeom>
          <a:solidFill>
            <a:srgbClr val="D2BE91"/>
          </a:solidFill>
          <a:ln w="7620">
            <a:solidFill>
              <a:srgbClr val="B8A4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2746" y="527435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Versioned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82746" y="5649278"/>
            <a:ext cx="59951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Historical tracking of changes over time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16416" y="6171128"/>
            <a:ext cx="6327815" cy="936188"/>
          </a:xfrm>
          <a:prstGeom prst="roundRect">
            <a:avLst>
              <a:gd name="adj" fmla="val 7123"/>
            </a:avLst>
          </a:prstGeom>
          <a:solidFill>
            <a:srgbClr val="AF9646"/>
          </a:solidFill>
          <a:ln w="7620">
            <a:solidFill>
              <a:srgbClr val="957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2746" y="6337459"/>
            <a:ext cx="202727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Machine-Consumable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682746" y="6712387"/>
            <a:ext cx="59951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 integration with automation and AI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121" y="570071"/>
            <a:ext cx="10790039" cy="930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300"/>
              </a:lnSpc>
              <a:buNone/>
            </a:pPr>
            <a:r>
              <a:rPr lang="en-US" sz="5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needs structure to be useful</a:t>
            </a:r>
            <a:endParaRPr lang="en-US" sz="5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113" y="1723549"/>
            <a:ext cx="9782056" cy="42787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09319" y="3883496"/>
            <a:ext cx="1146127" cy="266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Chaos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878436" y="3883496"/>
            <a:ext cx="1146127" cy="266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Order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787365" y="5228390"/>
            <a:ext cx="1884954" cy="18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Validated truth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6778" y="5173480"/>
            <a:ext cx="239911" cy="2399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08333" y="3892820"/>
            <a:ext cx="1667095" cy="18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metadata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9083" y="3913540"/>
            <a:ext cx="239911" cy="2399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40005" y="2557250"/>
            <a:ext cx="1894426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Predictable patterns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1810" y="2556362"/>
            <a:ext cx="239911" cy="2399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100044" y="5233126"/>
            <a:ext cx="1866009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standards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5796" y="5195385"/>
            <a:ext cx="237839" cy="2378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740103" y="3883348"/>
            <a:ext cx="1648150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Tribal knowledge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54164" y="3878167"/>
            <a:ext cx="256339" cy="25633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100044" y="2561986"/>
            <a:ext cx="1866009" cy="18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Inconsistent code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81544" y="2557694"/>
            <a:ext cx="256339" cy="256339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93790" y="6127790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Terraform Foundations, AI transforms chaos into clarity, enabling powerful new capabilities.</a:t>
            </a:r>
            <a:endParaRPr lang="en-US" sz="1150" dirty="0"/>
          </a:p>
        </p:txBody>
      </p:sp>
      <p:sp>
        <p:nvSpPr>
          <p:cNvPr id="19" name="Text 10"/>
          <p:cNvSpPr/>
          <p:nvPr/>
        </p:nvSpPr>
        <p:spPr>
          <a:xfrm>
            <a:off x="793790" y="6573203"/>
            <a:ext cx="187880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AI Can Now Do:</a:t>
            </a:r>
            <a:endParaRPr lang="en-US" sz="1450" dirty="0"/>
          </a:p>
        </p:txBody>
      </p:sp>
      <p:sp>
        <p:nvSpPr>
          <p:cNvPr id="20" name="Text 11"/>
          <p:cNvSpPr/>
          <p:nvPr/>
        </p:nvSpPr>
        <p:spPr>
          <a:xfrm>
            <a:off x="793790" y="6917293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infrastructure reasoning</a:t>
            </a:r>
            <a:endParaRPr lang="en-US" sz="1150" dirty="0"/>
          </a:p>
        </p:txBody>
      </p:sp>
      <p:sp>
        <p:nvSpPr>
          <p:cNvPr id="21" name="Text 12"/>
          <p:cNvSpPr/>
          <p:nvPr/>
        </p:nvSpPr>
        <p:spPr>
          <a:xfrm>
            <a:off x="793790" y="7164705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Accurate impact analysis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793790" y="7412117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design suggestions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7504390" y="657320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And Also:</a:t>
            </a:r>
            <a:endParaRPr lang="en-US" sz="1450" dirty="0"/>
          </a:p>
        </p:txBody>
      </p:sp>
      <p:sp>
        <p:nvSpPr>
          <p:cNvPr id="24" name="Text 15"/>
          <p:cNvSpPr/>
          <p:nvPr/>
        </p:nvSpPr>
        <p:spPr>
          <a:xfrm>
            <a:off x="7504390" y="6917293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 drift detection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7504390" y="7164705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best practice recommendations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7504390" y="7412117"/>
            <a:ext cx="633984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failure insights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51617"/>
            <a:ext cx="979527" cy="213598"/>
          </a:xfrm>
          <a:prstGeom prst="roundRect">
            <a:avLst>
              <a:gd name="adj" fmla="val 20294"/>
            </a:avLst>
          </a:prstGeom>
          <a:solidFill>
            <a:srgbClr val="D2BE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180" y="606862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843" y="590312"/>
            <a:ext cx="670084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AI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3790" y="798671"/>
            <a:ext cx="4684157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Usage (Practical, Grounded)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1327547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Terraform Foundations are established, AI systems can provide tangible value through capabilities grounded in reliable, structured data rather than speculation.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670" y="1592104"/>
            <a:ext cx="2001917" cy="20019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6337" y="3698796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Answer Questions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93790" y="3950494"/>
            <a:ext cx="427767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real module capabilities, dependencies, and usage patterns based on actual metadata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123" y="1592104"/>
            <a:ext cx="2001917" cy="20019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9972" y="3698796"/>
            <a:ext cx="175033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Identify Misalignments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176242" y="3950494"/>
            <a:ext cx="4277797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implementations that deviate from established patterns or best practices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6694" y="1592104"/>
            <a:ext cx="2001917" cy="20019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66239" y="3698796"/>
            <a:ext cx="166294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Suggest Valid Designs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9558814" y="3950494"/>
            <a:ext cx="4277797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 system architectures using validated modules and proven composition patterns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670" y="4458653"/>
            <a:ext cx="2001917" cy="20019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81081" y="6565344"/>
            <a:ext cx="190297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Detect Breaking Changes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93790" y="6817043"/>
            <a:ext cx="427767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version updates and identify potential impacts across dependent systems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123" y="4458653"/>
            <a:ext cx="2001917" cy="200191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79557" y="6565344"/>
            <a:ext cx="2671167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Compare Intent vs Implementation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5176242" y="6817043"/>
            <a:ext cx="4277797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that deployed infrastructure matches documented design and requirements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6694" y="4458653"/>
            <a:ext cx="2001917" cy="200191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868382" y="6565344"/>
            <a:ext cx="1658541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Assist Documentation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9558814" y="6817043"/>
            <a:ext cx="4277797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consistent, accurate documentation from validated metadata and schemas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793790" y="7251859"/>
            <a:ext cx="13042821" cy="426006"/>
          </a:xfrm>
          <a:prstGeom prst="roundRect">
            <a:avLst>
              <a:gd name="adj" fmla="val 12719"/>
            </a:avLst>
          </a:prstGeom>
          <a:solidFill>
            <a:srgbClr val="CBE6CB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734" y="7429619"/>
            <a:ext cx="161211" cy="12894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12890" y="7367826"/>
            <a:ext cx="12494776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consumes the foundation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 a reliable data source — it does not replace engineering judgment, standards, or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7347"/>
            <a:ext cx="1818442" cy="300990"/>
          </a:xfrm>
          <a:prstGeom prst="roundRect">
            <a:avLst>
              <a:gd name="adj" fmla="val 18833"/>
            </a:avLst>
          </a:prstGeom>
          <a:solidFill>
            <a:srgbClr val="D2BE91"/>
          </a:solidFill>
          <a:ln/>
        </p:spPr>
      </p:sp>
      <p:sp>
        <p:nvSpPr>
          <p:cNvPr id="3" name="Text 1"/>
          <p:cNvSpPr/>
          <p:nvPr/>
        </p:nvSpPr>
        <p:spPr>
          <a:xfrm>
            <a:off x="894993" y="727948"/>
            <a:ext cx="1616035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CAPABILITY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035606"/>
            <a:ext cx="9122688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Sandbox (Supporting Capability, Not the Core)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8933"/>
            <a:ext cx="4796314" cy="47963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5738" y="1906667"/>
            <a:ext cx="6988373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 environments serve as controlled observation and experimentation spaces that feed intelligence back into the Terraform Foundations, but they are a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E6F3E6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capability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the primary initiative.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5738" y="2799040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Sandbox Purpose</a:t>
            </a:r>
            <a:endParaRPr lang="en-US" sz="1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8960" y="3281601"/>
            <a:ext cx="253008" cy="253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3902" y="3276481"/>
            <a:ext cx="265199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Observe real service usage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403902" y="3683317"/>
            <a:ext cx="644021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actual consumption patterns in safe environments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8960" y="4224814"/>
            <a:ext cx="253008" cy="253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3902" y="4219694"/>
            <a:ext cx="3052882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Capture configuration patterns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403902" y="4626531"/>
            <a:ext cx="644021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teams compose and configure services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8960" y="5168027"/>
            <a:ext cx="253008" cy="253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3902" y="5162907"/>
            <a:ext cx="4454962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Compare functional vs security requirements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403902" y="5569744"/>
            <a:ext cx="644021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gaps between what works and what's compliant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8960" y="6111240"/>
            <a:ext cx="253008" cy="253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03902" y="6106120"/>
            <a:ext cx="3678079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Generate evidence for module design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7403902" y="6512957"/>
            <a:ext cx="644021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requirements with real-world usage data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855738" y="6923842"/>
            <a:ext cx="698837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 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informs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Terraform Foundations through empirical evidence — it does not replace the need for standardized, governed infrastructure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20591"/>
            <a:ext cx="533745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 Without Friction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1607225"/>
            <a:ext cx="75564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governance creates bottlenecks through manual reviews, subjective approvals, and endless coordination. Terraform Foundations implements governance as automated, evidence-based enforcement that operates at the speed of code.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280190" y="2435900"/>
            <a:ext cx="3714750" cy="1114068"/>
          </a:xfrm>
          <a:prstGeom prst="roundRect">
            <a:avLst>
              <a:gd name="adj" fmla="val 5986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22557" y="2602230"/>
            <a:ext cx="203001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Automated Validation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46520" y="2926437"/>
            <a:ext cx="3382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gates execute in CI/CD pipelines without human intervention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121860" y="2435900"/>
            <a:ext cx="3714750" cy="1114068"/>
          </a:xfrm>
          <a:prstGeom prst="roundRect">
            <a:avLst>
              <a:gd name="adj" fmla="val 5986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54345" y="2602230"/>
            <a:ext cx="204966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Immutable Standards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288191" y="2926437"/>
            <a:ext cx="3382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Policies defined as code and version-controlled alongside infrastructure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0190" y="3676888"/>
            <a:ext cx="3714750" cy="1114068"/>
          </a:xfrm>
          <a:prstGeom prst="roundRect">
            <a:avLst>
              <a:gd name="adj" fmla="val 5986"/>
            </a:avLst>
          </a:prstGeom>
          <a:solidFill>
            <a:srgbClr val="D2BE91"/>
          </a:solidFill>
          <a:ln w="7620">
            <a:solidFill>
              <a:srgbClr val="B8A4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67776" y="3843218"/>
            <a:ext cx="233945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Evidence-Based Controls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46520" y="4167426"/>
            <a:ext cx="3382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 validation results replace subjective judgment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121860" y="3676888"/>
            <a:ext cx="3714750" cy="1114068"/>
          </a:xfrm>
          <a:prstGeom prst="roundRect">
            <a:avLst>
              <a:gd name="adj" fmla="val 5986"/>
            </a:avLst>
          </a:prstGeom>
          <a:solidFill>
            <a:srgbClr val="AF9646"/>
          </a:solidFill>
          <a:ln w="7620">
            <a:solidFill>
              <a:srgbClr val="957C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86849" y="384321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Versioned Contracts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288191" y="4167426"/>
            <a:ext cx="3382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interfaces and dependencies explicitly declared and enforced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80190" y="5060752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Old Model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280190" y="5485328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review boards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80190" y="5758339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Endless coordination meetings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80190" y="6031349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Subjective approval processes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80190" y="6304359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Weeks of waiting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259616" y="5060752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highlight>
                  <a:srgbClr val="E6F3E6"/>
                </a:highlight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New Model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10259616" y="5485328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as code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executed automatically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259616" y="5758339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generation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real-time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259616" y="6031349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Immediate feedback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developers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259616" y="6304359"/>
            <a:ext cx="35846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at velocity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80190" y="6720245"/>
            <a:ext cx="7556421" cy="588764"/>
          </a:xfrm>
          <a:prstGeom prst="roundRect">
            <a:avLst>
              <a:gd name="adj" fmla="val 11327"/>
            </a:avLst>
          </a:prstGeom>
          <a:solidFill>
            <a:srgbClr val="CBE6C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6947297"/>
            <a:ext cx="198358" cy="15871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795968" y="6886813"/>
            <a:ext cx="68819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becomes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and policy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meetings. Compliance is continuous, not a gate.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13422"/>
            <a:ext cx="1334929" cy="234553"/>
          </a:xfrm>
          <a:prstGeom prst="roundRect">
            <a:avLst>
              <a:gd name="adj" fmla="val 19902"/>
            </a:avLst>
          </a:prstGeom>
          <a:solidFill>
            <a:srgbClr val="D2BE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133" y="775097"/>
            <a:ext cx="111085" cy="1110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3702" y="755094"/>
            <a:ext cx="10016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IMPACT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93790" y="986790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Measured Impact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93790" y="1566743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projections are derived from analysis of 89 documented Terraform incidents, operational support data, and industry benchmarks for infrastructure standardization initiatives.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3790" y="1864995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3790" y="2199799"/>
            <a:ext cx="4036100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Incident Reduction Projections</a:t>
            </a:r>
            <a:endParaRPr lang="en-US" sz="2150" dirty="0"/>
          </a:p>
        </p:txBody>
      </p:sp>
      <p:sp>
        <p:nvSpPr>
          <p:cNvPr id="9" name="Shape 6"/>
          <p:cNvSpPr/>
          <p:nvPr/>
        </p:nvSpPr>
        <p:spPr>
          <a:xfrm>
            <a:off x="793790" y="2762369"/>
            <a:ext cx="5978962" cy="173593"/>
          </a:xfrm>
          <a:prstGeom prst="roundRect">
            <a:avLst>
              <a:gd name="adj" fmla="val 33614"/>
            </a:avLst>
          </a:prstGeom>
          <a:solidFill>
            <a:srgbClr val="FFFFFF"/>
          </a:solidFill>
          <a:ln w="7620">
            <a:solidFill>
              <a:srgbClr val="CC9A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3790" y="2762369"/>
            <a:ext cx="3587353" cy="173593"/>
          </a:xfrm>
          <a:prstGeom prst="roundRect">
            <a:avLst>
              <a:gd name="adj" fmla="val 33614"/>
            </a:avLst>
          </a:prstGeom>
          <a:solidFill>
            <a:srgbClr val="E6B400"/>
          </a:solidFill>
          <a:ln/>
        </p:spPr>
      </p:sp>
      <p:sp>
        <p:nvSpPr>
          <p:cNvPr id="11" name="Text 8"/>
          <p:cNvSpPr/>
          <p:nvPr/>
        </p:nvSpPr>
        <p:spPr>
          <a:xfrm>
            <a:off x="6876931" y="2762369"/>
            <a:ext cx="37742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60%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108603" y="3078242"/>
            <a:ext cx="183094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Conservative Estimate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3790" y="3353633"/>
            <a:ext cx="646056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Minimum incident reduction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75922" y="2762369"/>
            <a:ext cx="5979081" cy="173593"/>
          </a:xfrm>
          <a:prstGeom prst="roundRect">
            <a:avLst>
              <a:gd name="adj" fmla="val 33614"/>
            </a:avLst>
          </a:prstGeom>
          <a:solidFill>
            <a:srgbClr val="FFFFFF"/>
          </a:solidFill>
          <a:ln w="7620">
            <a:solidFill>
              <a:srgbClr val="CC9A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75922" y="2762369"/>
            <a:ext cx="5082183" cy="173593"/>
          </a:xfrm>
          <a:prstGeom prst="roundRect">
            <a:avLst>
              <a:gd name="adj" fmla="val 33614"/>
            </a:avLst>
          </a:prstGeom>
          <a:solidFill>
            <a:srgbClr val="E6B400"/>
          </a:solidFill>
          <a:ln/>
        </p:spPr>
      </p:sp>
      <p:sp>
        <p:nvSpPr>
          <p:cNvPr id="16" name="Text 13"/>
          <p:cNvSpPr/>
          <p:nvPr/>
        </p:nvSpPr>
        <p:spPr>
          <a:xfrm>
            <a:off x="13459182" y="2762369"/>
            <a:ext cx="37742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85%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737884" y="3078242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Target Estimate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375922" y="3353633"/>
            <a:ext cx="6460688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 with full adoption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3790" y="3688437"/>
            <a:ext cx="2778562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Financial Impact</a:t>
            </a:r>
            <a:endParaRPr lang="en-US" sz="2150" dirty="0"/>
          </a:p>
        </p:txBody>
      </p:sp>
      <p:sp>
        <p:nvSpPr>
          <p:cNvPr id="20" name="Text 17"/>
          <p:cNvSpPr/>
          <p:nvPr/>
        </p:nvSpPr>
        <p:spPr>
          <a:xfrm>
            <a:off x="793790" y="4360307"/>
            <a:ext cx="4077057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$150K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1936552" y="4960977"/>
            <a:ext cx="179153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Direct Annual Savings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93790" y="5275183"/>
            <a:ext cx="407705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team efficiency gains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217319" y="4360307"/>
            <a:ext cx="4077057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$310K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6183987" y="4960977"/>
            <a:ext cx="214360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Conservative Total Impact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217319" y="5275183"/>
            <a:ext cx="407705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Including reduced incidents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640848" y="4360307"/>
            <a:ext cx="4210883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$2M+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10682764" y="4960977"/>
            <a:ext cx="2126933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Enterprise-Wide Potential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640848" y="5275183"/>
            <a:ext cx="4210883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LOB productivity impact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3790" y="5682734"/>
            <a:ext cx="13042821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93790" y="6267093"/>
            <a:ext cx="227611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Specific Improvements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93790" y="6624638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corruption events: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Nearly eliminated through standardized workflows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93790" y="6847523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instability: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Dramatically reduced via validation gates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93790" y="7070407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rework: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Minimized through upfront standards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93790" y="7293293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LOB inefficiency: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Significant reduction in support tickets and escalations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492246" y="6267093"/>
            <a:ext cx="251293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Additional Impact Details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92246" y="6624638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Accelerated Deployments: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Faster time-to-market for new features.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492246" y="6847523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Enhanced Security Posture: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Automated checks enforce compliance standards.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492246" y="7070407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Developer Experience: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Reduced friction and clearer guardrails.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492246" y="7293293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Technical Debt: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Consistent patterns prevent future issues.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8656"/>
            <a:ext cx="1253133" cy="293370"/>
          </a:xfrm>
          <a:prstGeom prst="roundRect">
            <a:avLst>
              <a:gd name="adj" fmla="val 18185"/>
            </a:avLst>
          </a:prstGeom>
          <a:noFill/>
          <a:ln w="7620">
            <a:solidFill>
              <a:srgbClr val="E6F3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660" y="761881"/>
            <a:ext cx="126921" cy="1269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7041" y="733901"/>
            <a:ext cx="8570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8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STATE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93790" y="1022747"/>
            <a:ext cx="71037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What This Unlocks Next (Future State)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1709380"/>
            <a:ext cx="13042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Foundations serves as the architectural launchpad for next-generation platform capabilities. Once the foundation is stable, mature, and proven, advanced capabilities become possible.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759" y="2309455"/>
            <a:ext cx="1291233" cy="87022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2636" y="2632829"/>
            <a:ext cx="223242" cy="2232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58703" y="2468166"/>
            <a:ext cx="25104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AI-Assisted Service Design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858703" y="2792373"/>
            <a:ext cx="55147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recommendations based on validated patterns and real usage data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739640" y="3189923"/>
            <a:ext cx="9057323" cy="11430"/>
          </a:xfrm>
          <a:prstGeom prst="roundRect">
            <a:avLst>
              <a:gd name="adj" fmla="val 583442"/>
            </a:avLst>
          </a:prstGeom>
          <a:solidFill>
            <a:srgbClr val="C3D4C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203" y="3219331"/>
            <a:ext cx="2582466" cy="870228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2755" y="3542705"/>
            <a:ext cx="223242" cy="2232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04378" y="3378041"/>
            <a:ext cx="208502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Faster GA Enablement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5504378" y="3702248"/>
            <a:ext cx="47611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time-to-production for new services from months to weeks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5385316" y="4099798"/>
            <a:ext cx="8411647" cy="11430"/>
          </a:xfrm>
          <a:prstGeom prst="roundRect">
            <a:avLst>
              <a:gd name="adj" fmla="val 583442"/>
            </a:avLst>
          </a:prstGeom>
          <a:solidFill>
            <a:srgbClr val="C3D4C3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527" y="4129207"/>
            <a:ext cx="3873698" cy="870228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2636" y="4452580"/>
            <a:ext cx="223242" cy="22324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149935" y="4287917"/>
            <a:ext cx="266545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Predictable Service Patterns</a:t>
            </a:r>
            <a:endParaRPr lang="en-US" sz="1550" dirty="0"/>
          </a:p>
        </p:txBody>
      </p:sp>
      <p:sp>
        <p:nvSpPr>
          <p:cNvPr id="20" name="Text 11"/>
          <p:cNvSpPr/>
          <p:nvPr/>
        </p:nvSpPr>
        <p:spPr>
          <a:xfrm>
            <a:off x="6149935" y="4612124"/>
            <a:ext cx="40681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Standardized blueprints that teams can confidently reuse</a:t>
            </a:r>
            <a:endParaRPr lang="en-US" sz="1250" dirty="0"/>
          </a:p>
        </p:txBody>
      </p:sp>
      <p:sp>
        <p:nvSpPr>
          <p:cNvPr id="21" name="Shape 12"/>
          <p:cNvSpPr/>
          <p:nvPr/>
        </p:nvSpPr>
        <p:spPr>
          <a:xfrm>
            <a:off x="6030873" y="5009674"/>
            <a:ext cx="7766090" cy="11430"/>
          </a:xfrm>
          <a:prstGeom prst="roundRect">
            <a:avLst>
              <a:gd name="adj" fmla="val 583442"/>
            </a:avLst>
          </a:prstGeom>
          <a:solidFill>
            <a:srgbClr val="C3D4C3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1970" y="5039082"/>
            <a:ext cx="5164931" cy="870228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42755" y="5362456"/>
            <a:ext cx="223242" cy="22324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795611" y="5197793"/>
            <a:ext cx="234053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Reduced Support Burden</a:t>
            </a:r>
            <a:endParaRPr lang="en-US" sz="1550" dirty="0"/>
          </a:p>
        </p:txBody>
      </p:sp>
      <p:sp>
        <p:nvSpPr>
          <p:cNvPr id="25" name="Text 14"/>
          <p:cNvSpPr/>
          <p:nvPr/>
        </p:nvSpPr>
        <p:spPr>
          <a:xfrm>
            <a:off x="6795611" y="5522000"/>
            <a:ext cx="5191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Self-service capabilities with automated guidance replace manual tickets</a:t>
            </a:r>
            <a:endParaRPr lang="en-US" sz="1250" dirty="0"/>
          </a:p>
        </p:txBody>
      </p:sp>
      <p:sp>
        <p:nvSpPr>
          <p:cNvPr id="26" name="Shape 15"/>
          <p:cNvSpPr/>
          <p:nvPr/>
        </p:nvSpPr>
        <p:spPr>
          <a:xfrm>
            <a:off x="6676549" y="5919549"/>
            <a:ext cx="7120414" cy="11430"/>
          </a:xfrm>
          <a:prstGeom prst="roundRect">
            <a:avLst>
              <a:gd name="adj" fmla="val 583442"/>
            </a:avLst>
          </a:prstGeom>
          <a:solidFill>
            <a:srgbClr val="C3D4C3"/>
          </a:solidFill>
          <a:ln/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294" y="5948958"/>
            <a:ext cx="6456164" cy="870228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42755" y="6272332"/>
            <a:ext cx="223242" cy="22324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441168" y="6107668"/>
            <a:ext cx="24087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Scalable Platform Growth</a:t>
            </a:r>
            <a:endParaRPr lang="en-US" sz="1550" dirty="0"/>
          </a:p>
        </p:txBody>
      </p:sp>
      <p:sp>
        <p:nvSpPr>
          <p:cNvPr id="30" name="Text 17"/>
          <p:cNvSpPr/>
          <p:nvPr/>
        </p:nvSpPr>
        <p:spPr>
          <a:xfrm>
            <a:off x="7441168" y="6431875"/>
            <a:ext cx="57397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that scales with organizational needs without linear cost increases</a:t>
            </a:r>
            <a:endParaRPr lang="en-US" sz="1250" dirty="0"/>
          </a:p>
        </p:txBody>
      </p:sp>
      <p:sp>
        <p:nvSpPr>
          <p:cNvPr id="31" name="Shape 18"/>
          <p:cNvSpPr/>
          <p:nvPr/>
        </p:nvSpPr>
        <p:spPr>
          <a:xfrm>
            <a:off x="793790" y="6962061"/>
            <a:ext cx="13042821" cy="588764"/>
          </a:xfrm>
          <a:prstGeom prst="roundRect">
            <a:avLst>
              <a:gd name="adj" fmla="val 11327"/>
            </a:avLst>
          </a:prstGeom>
          <a:solidFill>
            <a:srgbClr val="008A00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" y="7189113"/>
            <a:ext cx="198358" cy="15871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309568" y="7128629"/>
            <a:ext cx="123683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becomes the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launchpad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next-generation platforms such as TDX, enabling capabilities impossible without a solid foundation.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5915"/>
            <a:ext cx="1392793" cy="249793"/>
          </a:xfrm>
          <a:prstGeom prst="roundRect">
            <a:avLst>
              <a:gd name="adj" fmla="val 18688"/>
            </a:avLst>
          </a:prstGeom>
          <a:noFill/>
          <a:ln w="7620">
            <a:solidFill>
              <a:srgbClr val="E6F3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753" y="725210"/>
            <a:ext cx="111085" cy="1110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322" y="705207"/>
            <a:ext cx="104429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EXTENSION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93790" y="944523"/>
            <a:ext cx="7346990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Next Step (Future): Extend Beyond Terraform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93790" y="1524476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Terraform Foundations are proven stable and delivering measurable value, the same architectural model extends naturally to other infrastructure and configuration management systems.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3790" y="1919883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Reusable Model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3790" y="2289572"/>
            <a:ext cx="6351984" cy="796052"/>
          </a:xfrm>
          <a:prstGeom prst="roundRect">
            <a:avLst>
              <a:gd name="adj" fmla="val 7330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0237" y="2436019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40237" y="2750225"/>
            <a:ext cx="605909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patterns and archetypes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3790" y="3182779"/>
            <a:ext cx="6351984" cy="796052"/>
          </a:xfrm>
          <a:prstGeom prst="roundRect">
            <a:avLst>
              <a:gd name="adj" fmla="val 7330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0237" y="3329226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Metadata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40237" y="3643432"/>
            <a:ext cx="605909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Machine-readable documentation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3790" y="4075986"/>
            <a:ext cx="6351984" cy="796052"/>
          </a:xfrm>
          <a:prstGeom prst="roundRect">
            <a:avLst>
              <a:gd name="adj" fmla="val 7330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0237" y="422243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40237" y="4536638"/>
            <a:ext cx="605909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quality enforcement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3790" y="4969193"/>
            <a:ext cx="6351984" cy="796052"/>
          </a:xfrm>
          <a:prstGeom prst="roundRect">
            <a:avLst>
              <a:gd name="adj" fmla="val 7330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0237" y="5115639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Versioned Contracts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40237" y="5429845"/>
            <a:ext cx="605909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interface definitions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246" y="1932027"/>
            <a:ext cx="2537698" cy="253769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2246" y="4579025"/>
            <a:ext cx="27849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Future Target: Ansible / AAP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92246" y="4936569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the same foundation model to Ansible Automation Platform: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492246" y="5213033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Standardized, validated, cataloged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492246" y="5435918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Playbooks: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Consistent structure and metadata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492246" y="5658803"/>
            <a:ext cx="635198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Collections: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Versioned with explicit dependencies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93790" y="602753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93790" y="6521291"/>
            <a:ext cx="4121229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Cross-tooling visibility: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Dependencies become visible across infrastructure (Terraform) and configuration (Ansible)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261491" y="6521291"/>
            <a:ext cx="4121229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governance: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Same validation and evidence model applies universally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729192" y="6521291"/>
            <a:ext cx="4121229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AI reasoning: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Systems can reason across the full stack, not just one tool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93790" y="7096006"/>
            <a:ext cx="13042821" cy="477679"/>
          </a:xfrm>
          <a:prstGeom prst="roundRect">
            <a:avLst>
              <a:gd name="adj" fmla="val 12216"/>
            </a:avLst>
          </a:prstGeom>
          <a:solidFill>
            <a:srgbClr val="CBE6C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17" y="7292697"/>
            <a:ext cx="173593" cy="138827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45037" y="7227808"/>
            <a:ext cx="1245274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point: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This is not "adding Ansible scope" now — it's </a:t>
            </a:r>
            <a:pPr algn="l"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extending a proven foundation</a:t>
            </a:r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after Terraform success is demonstrated.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344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Summary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03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initiative addresses a critical enterprise need through systematic engineering rather than superficial modernization.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71142"/>
            <a:ext cx="4215289" cy="2103953"/>
          </a:xfrm>
          <a:prstGeom prst="roundRect">
            <a:avLst>
              <a:gd name="adj" fmla="val 22640"/>
            </a:avLst>
          </a:prstGeom>
          <a:solidFill>
            <a:srgbClr val="E6F3E6"/>
          </a:solidFill>
          <a:ln w="7620">
            <a:solidFill>
              <a:srgbClr val="C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1713" y="2677120"/>
            <a:ext cx="31594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Fixes Terraform at the Root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106341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Addresses systemic problems, not symptoms. Eliminates recurring failure patterns through standardization.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471142"/>
            <a:ext cx="4215408" cy="2103953"/>
          </a:xfrm>
          <a:prstGeom prst="roundRect">
            <a:avLst>
              <a:gd name="adj" fmla="val 22640"/>
            </a:avLst>
          </a:prstGeom>
          <a:solidFill>
            <a:srgbClr val="CCE8CC"/>
          </a:solidFill>
          <a:ln w="7620">
            <a:solidFill>
              <a:srgbClr val="B2CE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6763" y="2677120"/>
            <a:ext cx="35567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Reduces Real, Measured Costs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3106341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$800K–$2.5M+ annual impact reduction based on documented incident analysis and operational data.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2471142"/>
            <a:ext cx="4215289" cy="2103953"/>
          </a:xfrm>
          <a:prstGeom prst="roundRect">
            <a:avLst>
              <a:gd name="adj" fmla="val 22640"/>
            </a:avLst>
          </a:prstGeom>
          <a:solidFill>
            <a:srgbClr val="D2BE91"/>
          </a:solidFill>
          <a:ln w="7620">
            <a:solidFill>
              <a:srgbClr val="B8A4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2677120"/>
            <a:ext cx="380333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Improves Reliability and Velocity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3416498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deployments with fewer failures. Teams spend time building, not recovering from incidents.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773454"/>
            <a:ext cx="6422112" cy="1476256"/>
          </a:xfrm>
          <a:prstGeom prst="roundRect">
            <a:avLst>
              <a:gd name="adj" fmla="val 32267"/>
            </a:avLst>
          </a:prstGeom>
          <a:solidFill>
            <a:srgbClr val="1F7135"/>
          </a:solidFill>
          <a:ln w="7620">
            <a:solidFill>
              <a:srgbClr val="388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0011" y="4979432"/>
            <a:ext cx="40296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Enables AI Safely and Responsibly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5408652"/>
            <a:ext cx="6010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Creates the structured foundation AI requires. No hype, no speculation—just practical capabilities.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260" y="4773454"/>
            <a:ext cx="6422231" cy="1476256"/>
          </a:xfrm>
          <a:prstGeom prst="roundRect">
            <a:avLst>
              <a:gd name="adj" fmla="val 32267"/>
            </a:avLst>
          </a:prstGeom>
          <a:solidFill>
            <a:srgbClr val="995515"/>
          </a:solidFill>
          <a:ln w="7620">
            <a:solidFill>
              <a:srgbClr val="B26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9485" y="4979432"/>
            <a:ext cx="47317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Creates a Durable Enterprise Foundation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20238" y="5408652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Extensible model proven with Terraform, ready to scale to Ansible and beyond.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6472952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F2F2F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775847"/>
            <a:ext cx="248007" cy="19835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38513" y="6720840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not optional modernization — it is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foundational engineering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required for sustainable platform growth.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1878"/>
            <a:ext cx="1602462" cy="316230"/>
          </a:xfrm>
          <a:prstGeom prst="roundRect">
            <a:avLst>
              <a:gd name="adj" fmla="val 17925"/>
            </a:avLst>
          </a:prstGeom>
          <a:noFill/>
          <a:ln w="7620">
            <a:solidFill>
              <a:srgbClr val="E6F3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613" y="832485"/>
            <a:ext cx="134898" cy="134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4900" y="800100"/>
            <a:ext cx="1182529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REQUIRED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3790" y="1115378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8A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Ask / Next Steps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93790" y="1857494"/>
            <a:ext cx="1304282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Moving forward requires organizational alignment, appropriate resourcing, and a phased approach that prioritizes foundational work before dependent capabilities.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2268379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3790" y="2532221"/>
            <a:ext cx="4251960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9" name="Text 6"/>
          <p:cNvSpPr/>
          <p:nvPr/>
        </p:nvSpPr>
        <p:spPr>
          <a:xfrm>
            <a:off x="793790" y="2662238"/>
            <a:ext cx="4251960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Align on Terraform Foundations as a Priority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93790" y="3275171"/>
            <a:ext cx="425196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Recognize this as critical infrastructure work, not a "nice to have" modernization effort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89101" y="2268379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89101" y="2532221"/>
            <a:ext cx="4252079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13" name="Text 10"/>
          <p:cNvSpPr/>
          <p:nvPr/>
        </p:nvSpPr>
        <p:spPr>
          <a:xfrm>
            <a:off x="5189101" y="2662238"/>
            <a:ext cx="37565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Fund and Staff the Foundational Work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189101" y="3011686"/>
            <a:ext cx="425207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Allocate dedicated engineering resources with infrastructure and automation expertise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584531" y="2268379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584531" y="2532221"/>
            <a:ext cx="4252079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17" name="Text 14"/>
          <p:cNvSpPr/>
          <p:nvPr/>
        </p:nvSpPr>
        <p:spPr>
          <a:xfrm>
            <a:off x="9584531" y="2662238"/>
            <a:ext cx="344697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Treat AI as a Dependent Capability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584531" y="3011686"/>
            <a:ext cx="425207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 initiatives correctly: foundation first, AI capabilities second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3790" y="4044315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3790" y="4308158"/>
            <a:ext cx="6449735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21" name="Text 18"/>
          <p:cNvSpPr/>
          <p:nvPr/>
        </p:nvSpPr>
        <p:spPr>
          <a:xfrm>
            <a:off x="793790" y="4438174"/>
            <a:ext cx="361176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Measure Success Through Outcomes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93790" y="4787622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incident reduction, deployment velocity, and service enablement speed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86876" y="4044315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86876" y="4308158"/>
            <a:ext cx="6449735" cy="22860"/>
          </a:xfrm>
          <a:prstGeom prst="rect">
            <a:avLst/>
          </a:prstGeom>
          <a:solidFill>
            <a:srgbClr val="E6F3E6"/>
          </a:solidFill>
          <a:ln/>
        </p:spPr>
      </p:sp>
      <p:sp>
        <p:nvSpPr>
          <p:cNvPr id="25" name="Text 22"/>
          <p:cNvSpPr/>
          <p:nvPr/>
        </p:nvSpPr>
        <p:spPr>
          <a:xfrm>
            <a:off x="7386876" y="4438174"/>
            <a:ext cx="4995862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Plan Extension to Ansible After Terraform Stability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7386876" y="4787622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the proven model to AAP only after Terraform Foundations deliver results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93790" y="5378768"/>
            <a:ext cx="13042821" cy="2108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Build the foundation once. </a:t>
            </a:r>
            <a:pPr algn="l" indent="0" marL="0">
              <a:lnSpc>
                <a:spcPts val="8300"/>
              </a:lnSpc>
              <a:buNone/>
            </a:pPr>
            <a:r>
              <a:rPr lang="en-US" sz="6600" b="1" i="1" dirty="0">
                <a:solidFill>
                  <a:srgbClr val="002B1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Leverage it everywhere.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2026-01-21T21:54:15Z</dcterms:created>
  <dcterms:modified xsi:type="dcterms:W3CDTF">2026-01-21T21:54:15Z</dcterms:modified>
</cp:coreProperties>
</file>