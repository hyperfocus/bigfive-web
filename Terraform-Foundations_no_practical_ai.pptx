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4630400" cy="8229600"/>
  <p:notesSz cx="8229600" cy="14630400"/>
  <p:embeddedFontLst>
    <p:embeddedFont>
      <p:font typeface="IBM Plex Sans"/>
      <p:regular r:id="rId25"/>
    </p:embeddedFont>
    <p:embeddedFont>
      <p:font typeface="IBM Plex Sans"/>
      <p:regular r:id="rId26"/>
    </p:embeddedFont>
    <p:embeddedFont>
      <p:font typeface="IBM Plex Sans"/>
      <p:regular r:id="rId27"/>
    </p:embeddedFont>
    <p:embeddedFont>
      <p:font typeface="IBM Plex Sans"/>
      <p:regular r:id="rId28"/>
    </p:embeddedFont>
    <p:embeddedFont>
      <p:font typeface="IBM Plex Sans"/>
      <p:regular r:id="rId29"/>
    </p:embeddedFont>
    <p:embeddedFont>
      <p:font typeface="IBM Plex Sans"/>
      <p:regular r:id="rId30"/>
    </p:embeddedFont>
    <p:embeddedFont>
      <p:font typeface="IBM Plex Sans"/>
      <p:regular r:id="rId31"/>
    </p:embeddedFont>
    <p:embeddedFont>
      <p:font typeface="IBM Plex Sans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7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sv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svg"/><Relationship Id="rId18" Type="http://schemas.openxmlformats.org/officeDocument/2006/relationships/image" Target="../media/image-15-18.png"/><Relationship Id="rId19" Type="http://schemas.openxmlformats.org/officeDocument/2006/relationships/slideLayout" Target="../slideLayouts/slideLayout16.xml"/><Relationship Id="rId2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14995"/>
            <a:ext cx="53145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514368"/>
            <a:ext cx="755642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AF964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Establishing the Technical Foundation for Consistent Infrastructure, Governance, and AI Reasoning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55616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Scott Tully (Principal Engineer)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09694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January 21,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545783"/>
            <a:ext cx="1446848" cy="300990"/>
          </a:xfrm>
          <a:prstGeom prst="roundRect">
            <a:avLst>
              <a:gd name="adj" fmla="val 18833"/>
            </a:avLst>
          </a:prstGeom>
          <a:solidFill>
            <a:srgbClr val="E6F3E6"/>
          </a:solidFill>
          <a:ln/>
        </p:spPr>
      </p:sp>
      <p:sp>
        <p:nvSpPr>
          <p:cNvPr id="4" name="Text 1"/>
          <p:cNvSpPr/>
          <p:nvPr/>
        </p:nvSpPr>
        <p:spPr>
          <a:xfrm>
            <a:off x="6381393" y="596384"/>
            <a:ext cx="1244441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FIRST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80190" y="904042"/>
            <a:ext cx="727936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This Matters: Context, Not Hype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280190" y="1646158"/>
            <a:ext cx="7556421" cy="124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initiative is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E6F3E6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an AI project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but a **Terraform Foundations program**. We are establishing enterprise-grade infrastructure to build a robust, scalable, and secure technical environment. This foundational work ensures reliability and predictability, underpinning all future advancements, including AI.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80190" y="3055620"/>
            <a:ext cx="7556421" cy="1022866"/>
          </a:xfrm>
          <a:prstGeom prst="roundRect">
            <a:avLst>
              <a:gd name="adj" fmla="val 6927"/>
            </a:avLst>
          </a:prstGeom>
          <a:solidFill>
            <a:srgbClr val="CBE6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782" y="3285173"/>
            <a:ext cx="263485" cy="210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0860" y="3241119"/>
            <a:ext cx="6787158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becomes effective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after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foundation is consistent, structured, and reliable.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280190" y="4239697"/>
            <a:ext cx="7556421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Here are the key reasons why this foundational work is crucial: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280190" y="4712970"/>
            <a:ext cx="75564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operational risk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deployments reduce failures, human error, and costly outages, ensuring consistent service.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80190" y="5262443"/>
            <a:ext cx="75564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Improves delivery velocity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Standardized environments and faster provisioning lead to quicker, more predictable feature releases and application deployments.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80190" y="5811917"/>
            <a:ext cx="75564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Standardizes infrastructure enablement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Consistent patterns foster shared understanding, simplify onboarding, and reduce configuration drift and technical debt across teams.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80190" y="6361390"/>
            <a:ext cx="75564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Creates machine-readable truth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Codified infrastructure creates a single source of truth, vital for AI systems to analyze, monitor, and automate tasks.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075730" cy="213598"/>
          </a:xfrm>
          <a:prstGeom prst="roundRect">
            <a:avLst>
              <a:gd name="adj" fmla="val 20294"/>
            </a:avLst>
          </a:prstGeom>
          <a:solidFill>
            <a:srgbClr val="E6F3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180" y="601028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843" y="584478"/>
            <a:ext cx="766286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ISSUE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792837"/>
            <a:ext cx="7982903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Current State: Terraform as an Enterprise Bottleneck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321713"/>
            <a:ext cx="1304282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Based on comprehensive incident data and operational analysis conducted across platform and line-of-business teams, a clear pattern of systemic failure has emerged.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1693188"/>
            <a:ext cx="4277678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89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1806297" y="2246114"/>
            <a:ext cx="225254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Incidents Analyzed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3790" y="2497812"/>
            <a:ext cx="42776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review of failures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76242" y="1693188"/>
            <a:ext cx="427779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$800K</a:t>
            </a:r>
            <a:endParaRPr lang="en-US" sz="3350" dirty="0"/>
          </a:p>
        </p:txBody>
      </p:sp>
      <p:sp>
        <p:nvSpPr>
          <p:cNvPr id="11" name="Text 8"/>
          <p:cNvSpPr/>
          <p:nvPr/>
        </p:nvSpPr>
        <p:spPr>
          <a:xfrm>
            <a:off x="6486287" y="2246114"/>
            <a:ext cx="165758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Minimum Annual Cost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176242" y="2497812"/>
            <a:ext cx="427779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Conservative estimate of impact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558814" y="1693188"/>
            <a:ext cx="427779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$2.5M+</a:t>
            </a:r>
            <a:endParaRPr lang="en-US" sz="3350" dirty="0"/>
          </a:p>
        </p:txBody>
      </p:sp>
      <p:sp>
        <p:nvSpPr>
          <p:cNvPr id="14" name="Text 11"/>
          <p:cNvSpPr/>
          <p:nvPr/>
        </p:nvSpPr>
        <p:spPr>
          <a:xfrm>
            <a:off x="10848975" y="2246114"/>
            <a:ext cx="1697474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Maximum Annual Cost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558814" y="2497812"/>
            <a:ext cx="427779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enterprise impact 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3790" y="2793802"/>
            <a:ext cx="256317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Repeated Failure Categories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3790" y="3236714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management corruption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requiring manual recovery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790" y="3436263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instability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causing deployment delays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80102" y="3236714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quality inconsistencies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across teams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80102" y="3436263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and version drift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creating compatibility issues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3790" y="3730109"/>
            <a:ext cx="1304282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cumulative effect creates a high support burden across platform engineering and LOB infrastructure teams, draining resources that could be applied to strategic initiatives.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5783"/>
            <a:ext cx="10392489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Core Problem: Technical Deficiencies in Terraform Adoption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22289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1580436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Lifecycle Model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standardized approach for module evolution, versioning, or deprecation. Leads to outdated and unmaintainable infrastructure.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93790" y="2323028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Enforced Module Standards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varies due to lack of centralized guidelines, automated linting, or security scanning. Allows vulnerable modules and extensive manual review.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90" y="3065621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Repo Structures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repository organization impedes onboarding and resource discovery. Slows development and obstructs shared tooling.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90" y="3808214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Validated Inputs/Outputs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interface contracts are often undefined. Lack of schema validation causes silent failures and breaking changes.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3790" y="4550807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Machine-Readable Metadata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infrastructure info is siloed in tribal knowledge. Prevents automated governance, auditing, and cost attribution.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3790" y="5293400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Awareness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Lack of automated dependency visualization leads to accidental breaking changes and prolonged outage investigations.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3790" y="6035992"/>
            <a:ext cx="63519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Impact Visibility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Unknown consequences from version changes. Teams delay updates, causing significant version drift and higher outage risk.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2246" y="122289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This Creates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246" y="1592580"/>
            <a:ext cx="2180511" cy="134754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2246" y="3037284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Fragile Pipelines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2246" y="3351490"/>
            <a:ext cx="3115151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Deployments fail unpredictably due to configuration discrepancies. Leads to prolonged recovery and constant manual intervention.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0" y="1592580"/>
            <a:ext cx="2180630" cy="13476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28960" y="303740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Manual Recovery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728960" y="3351609"/>
            <a:ext cx="311527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demand engineers spend days analyzing logs and fixing corrupted infrastructure. Creates high operational overhead and extends downtime.</a:t>
            </a:r>
            <a:endParaRPr lang="en-US" sz="13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46" y="4490918"/>
            <a:ext cx="2180511" cy="1347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2246" y="593562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Tribal Knowledge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492246" y="6249829"/>
            <a:ext cx="31151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expertise is confined to a few individuals. Creates single points of failure and hinders knowledge transfer.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960" y="4490918"/>
            <a:ext cx="2180630" cy="13476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28960" y="5935742"/>
            <a:ext cx="207776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Slow Service Enablement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728960" y="6249948"/>
            <a:ext cx="311527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Provisioning new environments takes weeks due to inconsistent practices and manual bottlenecks. Impacts product launch cycles.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641277" cy="255984"/>
          </a:xfrm>
          <a:prstGeom prst="roundRect">
            <a:avLst>
              <a:gd name="adj" fmla="val 19539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83087" y="590431"/>
            <a:ext cx="14626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846415"/>
            <a:ext cx="801850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Foundations: What We Are Building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93790" y="1478994"/>
            <a:ext cx="13042821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are developing a comprehensive </a:t>
            </a:r>
            <a:pPr algn="l" indent="0" marL="0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Lifecycle Management (TFLM)</a:t>
            </a:r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foundation to address critical technical deficiencies in Terraform adoption. TFLM is an enterprise-wide framework establishing standards and processes for how infrastructure-as-code is created, validated, versioned, and evolved. This foundation aims to transform ad-hoc Terraform usage into a robust, scalable, and secure operational model.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3790" y="2386013"/>
            <a:ext cx="4273153" cy="2212419"/>
          </a:xfrm>
          <a:prstGeom prst="roundRect">
            <a:avLst>
              <a:gd name="adj" fmla="val 2826"/>
            </a:avLst>
          </a:prstGeom>
          <a:solidFill>
            <a:srgbClr val="DDEEDD"/>
          </a:solidFill>
          <a:ln w="7620">
            <a:solidFill>
              <a:srgbClr val="D2BE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238" y="254246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2BE9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991" y="2665214"/>
            <a:ext cx="200858" cy="20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238" y="3100507"/>
            <a:ext cx="287488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Terraform modules are built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50238" y="3399949"/>
            <a:ext cx="3960257" cy="104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structure and composition patterns ensure every module adheres to consistent conventions, promoting reuse and simplifying onboarding.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78504" y="2386013"/>
            <a:ext cx="4273272" cy="2212419"/>
          </a:xfrm>
          <a:prstGeom prst="roundRect">
            <a:avLst>
              <a:gd name="adj" fmla="val 2826"/>
            </a:avLst>
          </a:prstGeom>
          <a:solidFill>
            <a:srgbClr val="DDEEDD"/>
          </a:solidFill>
          <a:ln w="7620">
            <a:solidFill>
              <a:srgbClr val="D2BE9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34953" y="254246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2BE9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7706" y="2665214"/>
            <a:ext cx="200858" cy="20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4953" y="3100507"/>
            <a:ext cx="201453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they are validated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34953" y="3399949"/>
            <a:ext cx="3960376" cy="104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gates ensure every module meets predefined security, compliance, and operational standards before deployment. All results are auditable.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9563338" y="2386013"/>
            <a:ext cx="4273153" cy="2212419"/>
          </a:xfrm>
          <a:prstGeom prst="roundRect">
            <a:avLst>
              <a:gd name="adj" fmla="val 2826"/>
            </a:avLst>
          </a:prstGeom>
          <a:solidFill>
            <a:srgbClr val="DDEEDD"/>
          </a:solidFill>
          <a:ln w="7620">
            <a:solidFill>
              <a:srgbClr val="D2BE9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719786" y="2542461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2BE9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2540" y="2665214"/>
            <a:ext cx="200858" cy="20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19786" y="3100507"/>
            <a:ext cx="199989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they evolve safely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719786" y="3399949"/>
            <a:ext cx="3960257" cy="104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Controlled versioning with impact analysis allows teams to manage module changes confidently, reducing fear of upgrading and minimizing breaking changes.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93790" y="4709993"/>
            <a:ext cx="6465570" cy="1951911"/>
          </a:xfrm>
          <a:prstGeom prst="roundRect">
            <a:avLst>
              <a:gd name="adj" fmla="val 3203"/>
            </a:avLst>
          </a:prstGeom>
          <a:solidFill>
            <a:srgbClr val="DDEEDD"/>
          </a:solidFill>
          <a:ln w="7620">
            <a:solidFill>
              <a:srgbClr val="D2BE9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238" y="4866442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2BE9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991" y="4989195"/>
            <a:ext cx="200858" cy="2008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238" y="5424488"/>
            <a:ext cx="269795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dependencies are tracked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50238" y="5723930"/>
            <a:ext cx="6152674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relationship mapping creates a machine-readable understanding of how infrastructure components interconnect, preventing accidental modifications.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7370921" y="4709993"/>
            <a:ext cx="6465570" cy="1951911"/>
          </a:xfrm>
          <a:prstGeom prst="roundRect">
            <a:avLst>
              <a:gd name="adj" fmla="val 3203"/>
            </a:avLst>
          </a:prstGeom>
          <a:solidFill>
            <a:srgbClr val="DDEEDD"/>
          </a:solidFill>
          <a:ln w="7620">
            <a:solidFill>
              <a:srgbClr val="D2BE9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27369" y="4866442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D2BE9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50123" y="4989195"/>
            <a:ext cx="200858" cy="20085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27369" y="5424488"/>
            <a:ext cx="246423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standards are enforced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527369" y="5723930"/>
            <a:ext cx="6152674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Policy-as-code with automated compliance ensures all infrastructure deployments adhere to organizational governance, security, and cost policies.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793790" y="6787396"/>
            <a:ext cx="13042821" cy="584002"/>
          </a:xfrm>
          <a:prstGeom prst="roundRect">
            <a:avLst>
              <a:gd name="adj" fmla="val 10705"/>
            </a:avLst>
          </a:prstGeom>
          <a:solidFill>
            <a:srgbClr val="D2BE9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618" y="6971467"/>
            <a:ext cx="232529" cy="1859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23975" y="6936105"/>
            <a:ext cx="1236380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becomes the </a:t>
            </a:r>
            <a:pPr algn="l" indent="0" marL="0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of record</a:t>
            </a:r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infrastructure enablement across the entire enterprise.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295876" cy="373142"/>
          </a:xfrm>
          <a:prstGeom prst="roundRect">
            <a:avLst>
              <a:gd name="adj" fmla="val 1787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05314"/>
            <a:ext cx="105775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PILLARS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998220"/>
            <a:ext cx="8534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 – Core Pillars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191595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interconnected pillars form the architectural foundation, each reducing operational risk while simultaneously increasing the system's ability to support advanced reasoning capabilities.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36652" y="3181588"/>
            <a:ext cx="39976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Standardized Module Architecture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3610808"/>
            <a:ext cx="404050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structure and interfaces</a:t>
            </a:r>
            <a:endParaRPr lang="en-US" sz="1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7641" y="3683377"/>
            <a:ext cx="296942" cy="2969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95986" y="3181588"/>
            <a:ext cx="32817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Consistent Repo Archetypes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9795986" y="3610808"/>
            <a:ext cx="4040624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organization patterns</a:t>
            </a:r>
            <a:endParaRPr lang="en-US" sz="1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5460" y="3683377"/>
            <a:ext cx="296942" cy="2969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94463" y="4802386"/>
            <a:ext cx="30353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Schema-Driven Validation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994463" y="5231606"/>
            <a:ext cx="3842147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enforcement</a:t>
            </a:r>
            <a:endParaRPr lang="en-US" sz="1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4250" y="5067002"/>
            <a:ext cx="296942" cy="2969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795986" y="6423303"/>
            <a:ext cx="27459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Automated Governance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9795986" y="6852523"/>
            <a:ext cx="4040624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enforcement without friction</a:t>
            </a:r>
            <a:endParaRPr lang="en-US" sz="1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5460" y="6450628"/>
            <a:ext cx="296942" cy="29694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488638" y="6423303"/>
            <a:ext cx="33456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Machine-Readable Metadata</a:t>
            </a:r>
            <a:endParaRPr lang="en-US" sz="1950" dirty="0"/>
          </a:p>
        </p:txBody>
      </p:sp>
      <p:sp>
        <p:nvSpPr>
          <p:cNvPr id="23" name="Text 13"/>
          <p:cNvSpPr/>
          <p:nvPr/>
        </p:nvSpPr>
        <p:spPr>
          <a:xfrm>
            <a:off x="793790" y="6852523"/>
            <a:ext cx="404050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Structured, queryable information</a:t>
            </a:r>
            <a:endParaRPr lang="en-US" sz="19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67641" y="6450628"/>
            <a:ext cx="296942" cy="29694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154912" y="48023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AI-Ready Artifacts</a:t>
            </a:r>
            <a:endParaRPr lang="en-US" sz="1950" dirty="0"/>
          </a:p>
        </p:txBody>
      </p:sp>
      <p:sp>
        <p:nvSpPr>
          <p:cNvPr id="27" name="Text 15"/>
          <p:cNvSpPr/>
          <p:nvPr/>
        </p:nvSpPr>
        <p:spPr>
          <a:xfrm>
            <a:off x="793790" y="5231606"/>
            <a:ext cx="384202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for intelligent systems</a:t>
            </a:r>
            <a:endParaRPr lang="en-US" sz="19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653" y="2933105"/>
            <a:ext cx="4564975" cy="4564975"/>
          </a:xfrm>
          <a:prstGeom prst="rect">
            <a:avLst/>
          </a:prstGeom>
        </p:spPr>
      </p:pic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68851" y="5067002"/>
            <a:ext cx="296942" cy="296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761524" cy="300990"/>
          </a:xfrm>
          <a:prstGeom prst="roundRect">
            <a:avLst>
              <a:gd name="adj" fmla="val 18833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94993" y="596384"/>
            <a:ext cx="559118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904042"/>
            <a:ext cx="8861227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Standardized Terraform Module Architecture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93790" y="1775103"/>
            <a:ext cx="6988373" cy="936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Terraform services across the enterprise are built as well-defined modules following a consistent architectural pattern that ensures predictability, maintainability, and safe composition.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2854643"/>
            <a:ext cx="26397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Required Components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3314224"/>
            <a:ext cx="6988373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Defined inputs and outputs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interface contracts with type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3988475"/>
            <a:ext cx="6988373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version pinning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and provider versions explicitly specified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4662726"/>
            <a:ext cx="6988373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constraints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Compatible provider versions documented and enforced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3790" y="5336977"/>
            <a:ext cx="6988373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dependencies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module relationships clearly declared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6011228"/>
            <a:ext cx="6988373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Documented behavior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Human-readable docs + machine-readable metadata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530" y="1807369"/>
            <a:ext cx="4796314" cy="479631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93790" y="6926104"/>
            <a:ext cx="13042821" cy="710803"/>
          </a:xfrm>
          <a:prstGeom prst="roundRect">
            <a:avLst>
              <a:gd name="adj" fmla="val 9968"/>
            </a:avLst>
          </a:prstGeom>
          <a:solidFill>
            <a:srgbClr val="D2BE9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82" y="7155656"/>
            <a:ext cx="263485" cy="2108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94460" y="7111603"/>
            <a:ext cx="12273558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Modules are composed by root configurations — never ad hoc or directly modified.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895826" cy="373142"/>
          </a:xfrm>
          <a:prstGeom prst="roundRect">
            <a:avLst>
              <a:gd name="adj" fmla="val 1787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05314"/>
            <a:ext cx="6577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998220"/>
            <a:ext cx="64974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Repo Archetypes (Enforced)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191595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repository in the enterprise declares its archetype, establishing a contract that determines structure, validation requirements, and expected behaviors.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3310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Module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Reusable infrastructure components with defined inputs, outputs, and dependencies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3200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Root / Composition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Orchestration layer that combines modules into complete environments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370701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Metadata / Catalog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Service registry and metadata repository for discovery and reasoning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40939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Future: Config, Application, Policy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Extensible model ready for additional artifact types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4709160"/>
            <a:ext cx="344614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Archetypes Enable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3790" y="55574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files: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Standard structure enforced automatically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9444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rules: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Quality gates specific to archetype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5574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Allowed behaviors: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 rails prevent misuse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9444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 expectations: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pipeline configuration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55462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architectural pattern enables consistent automation and systematic reasoning across all infrastructure artifacts.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895826" cy="373142"/>
          </a:xfrm>
          <a:prstGeom prst="roundRect">
            <a:avLst>
              <a:gd name="adj" fmla="val 1787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05314"/>
            <a:ext cx="6577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998220"/>
            <a:ext cx="85519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Validation as a First-Class Capability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191595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piece of Terraform code passes through a comprehensive, automated validation pipeline that produces objective evidence of quality and compliance.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3310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Native Validation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Syntax, type checking, and internal consistency using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39947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Analysis (IaC Scanning)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Security vulnerabilities, misconfigurations, and policy violations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3865840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Checks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Interface contracts, metadata completeness, and archetype compliance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433220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Checks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Version compatibility, breaking changes, and transitive dependencies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479857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Compatibility Checks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Provider version ranges, Terraform version requirements, and upgrade paths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5418773"/>
            <a:ext cx="13042821" cy="1319570"/>
          </a:xfrm>
          <a:prstGeom prst="roundRect">
            <a:avLst>
              <a:gd name="adj" fmla="val 6317"/>
            </a:avLst>
          </a:prstGeom>
          <a:solidFill>
            <a:srgbClr val="E6F3E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739170"/>
            <a:ext cx="310039" cy="24800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0545" y="5666661"/>
            <a:ext cx="12137708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produces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opinions. Results are structured, versioned, and queryable for audit and compliance purposes.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999768" cy="300990"/>
          </a:xfrm>
          <a:prstGeom prst="roundRect">
            <a:avLst>
              <a:gd name="adj" fmla="val 18833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94993" y="596384"/>
            <a:ext cx="79736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4 &amp;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904042"/>
            <a:ext cx="563344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Metadata: The Missing Layer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93790" y="1646158"/>
            <a:ext cx="130428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Terraform artifact—modules, compositions, and configurations—produces rich, structured metadata that answers critical operational questions previously locked in tribal knowledge or scattered documentation.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2450068"/>
            <a:ext cx="2951202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Key Questions Answered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2909649"/>
            <a:ext cx="6315670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this module do?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Purpose, capabilities, and intended use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3583900"/>
            <a:ext cx="6315670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services does it expose?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APIs, endpoints, and integration points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4258151"/>
            <a:ext cx="6315670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dependencies exist?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modules, providers, and external 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3790" y="4932402"/>
            <a:ext cx="6315670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versions are compatible?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Supported Terraform and provider version ranges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5606653"/>
            <a:ext cx="6315670" cy="62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environments are supported?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Development, staging, production readiness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28560" y="245006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 Properties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528560" y="2927509"/>
            <a:ext cx="6315670" cy="1008936"/>
          </a:xfrm>
          <a:prstGeom prst="roundRect">
            <a:avLst>
              <a:gd name="adj" fmla="val 7023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4773" y="310372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Structured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704773" y="3510558"/>
            <a:ext cx="596324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JSON/YAML schemas with 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28560" y="4079796"/>
            <a:ext cx="6315670" cy="1008936"/>
          </a:xfrm>
          <a:prstGeom prst="roundRect">
            <a:avLst>
              <a:gd name="adj" fmla="val 7023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4773" y="425600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Queryable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04773" y="4662845"/>
            <a:ext cx="596324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Search, filter, and analyze at scale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28560" y="5232083"/>
            <a:ext cx="6315670" cy="1008936"/>
          </a:xfrm>
          <a:prstGeom prst="roundRect">
            <a:avLst>
              <a:gd name="adj" fmla="val 7023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4773" y="540829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704773" y="5815132"/>
            <a:ext cx="596324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Historical tracking of changes over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28560" y="6384369"/>
            <a:ext cx="6315670" cy="1008936"/>
          </a:xfrm>
          <a:prstGeom prst="roundRect">
            <a:avLst>
              <a:gd name="adj" fmla="val 7023"/>
            </a:avLst>
          </a:prstGeom>
          <a:solidFill>
            <a:srgbClr val="AF9646"/>
          </a:solidFill>
          <a:ln w="7620">
            <a:solidFill>
              <a:srgbClr val="957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4773" y="6560582"/>
            <a:ext cx="21538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Machine-Consumable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04773" y="6967418"/>
            <a:ext cx="596324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 integration with automation and AI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404580" cy="348377"/>
          </a:xfrm>
          <a:prstGeom prst="roundRect">
            <a:avLst>
              <a:gd name="adj" fmla="val 18185"/>
            </a:avLst>
          </a:prstGeom>
          <a:solidFill>
            <a:srgbClr val="D2BE91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602337"/>
            <a:ext cx="1178362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CAPABILITIES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965716"/>
            <a:ext cx="6834902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needs structure to be useful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823442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Terraform Foundations, AI transforms chaos into clarity, enabling powerful new capabilities.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3790" y="2498169"/>
            <a:ext cx="238029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AI Can Now Do: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2971919"/>
            <a:ext cx="3590806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infrastructure reasoning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3769876"/>
            <a:ext cx="3590806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Accurate impact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3790" y="4200168"/>
            <a:ext cx="3590806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design suggestions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93790" y="474690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And Also: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93790" y="5220653"/>
            <a:ext cx="3590806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 drift detection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93790" y="5650944"/>
            <a:ext cx="3590806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best practice recommendations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3790" y="6448901"/>
            <a:ext cx="3590806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failure insights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397" y="2520553"/>
            <a:ext cx="8535591" cy="37334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47026" y="4430795"/>
            <a:ext cx="1000058" cy="18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839699" y="4430795"/>
            <a:ext cx="1000058" cy="18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05344" y="5569421"/>
            <a:ext cx="1644725" cy="181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Validated truth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2377" y="5530808"/>
            <a:ext cx="209336" cy="209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959916" y="4404063"/>
            <a:ext cx="1454632" cy="181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metadata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9196" y="4431440"/>
            <a:ext cx="209335" cy="209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64019" y="3238705"/>
            <a:ext cx="1652989" cy="181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patterns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6769" y="3247228"/>
            <a:ext cx="209335" cy="209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70290" y="5573553"/>
            <a:ext cx="1628195" cy="18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standards</a:t>
            </a:r>
            <a:endParaRPr lang="en-US" sz="10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5125" y="5549920"/>
            <a:ext cx="207528" cy="20752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56222" y="4395798"/>
            <a:ext cx="1438101" cy="18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Tribal knowledge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39089" y="4400576"/>
            <a:ext cx="223670" cy="22367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70290" y="3242837"/>
            <a:ext cx="1628195" cy="181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code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6512" y="3248390"/>
            <a:ext cx="223670" cy="223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925836" cy="324326"/>
          </a:xfrm>
          <a:prstGeom prst="roundRect">
            <a:avLst>
              <a:gd name="adj" fmla="val 18506"/>
            </a:avLst>
          </a:prstGeom>
          <a:solidFill>
            <a:srgbClr val="D2BE91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599361"/>
            <a:ext cx="171152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CAPABILITY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934403"/>
            <a:ext cx="966108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Sandbox (Supporting Capability, Not the Core)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14525"/>
            <a:ext cx="5066467" cy="50664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66692" y="1878330"/>
            <a:ext cx="6977420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 environments serve as controlled observation and experimentation spaces that feed intelligence back into the Terraform Foundations, but they are a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E6F3E6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capability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the primary initiative.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866692" y="3396377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Sandbox Purpose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66692" y="3891915"/>
            <a:ext cx="697742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real service usage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Capture actual consumption patterns in safe environments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66692" y="4491038"/>
            <a:ext cx="697742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configuration patterns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Understand how teams compose and configure services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66692" y="5090160"/>
            <a:ext cx="697742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functional vs security requirements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Identify gaps between what works and what's compliant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66692" y="5689282"/>
            <a:ext cx="697742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evidence for module design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Validate requirements with real-world usage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66692" y="6376868"/>
            <a:ext cx="6977420" cy="101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Terraform Foundations through empirical evidence — it does not replace the need for standardized, governed infrastructure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545783"/>
            <a:ext cx="1497449" cy="234553"/>
          </a:xfrm>
          <a:prstGeom prst="roundRect">
            <a:avLst>
              <a:gd name="adj" fmla="val 19902"/>
            </a:avLst>
          </a:prstGeom>
          <a:solidFill>
            <a:srgbClr val="D2BE91"/>
          </a:solidFill>
          <a:ln/>
        </p:spPr>
      </p:sp>
      <p:sp>
        <p:nvSpPr>
          <p:cNvPr id="4" name="Text 1"/>
          <p:cNvSpPr/>
          <p:nvPr/>
        </p:nvSpPr>
        <p:spPr>
          <a:xfrm>
            <a:off x="6363533" y="587454"/>
            <a:ext cx="133076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CAPABILITY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80190" y="819150"/>
            <a:ext cx="4671298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 Without Friction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280190" y="1399103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governance creates bottlenecks through manual reviews, subjective approvals, and endless coordination. Terraform Foundations implements governance as automated, evidence-based enforcement that operates at the speed of code.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0190" y="2217063"/>
            <a:ext cx="3729633" cy="1296591"/>
          </a:xfrm>
          <a:prstGeom prst="roundRect">
            <a:avLst>
              <a:gd name="adj" fmla="val 4500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76624" y="2363510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56621" y="2619375"/>
            <a:ext cx="177665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Automated Validation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637" y="2894767"/>
            <a:ext cx="343673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gates execute in CI/CD pipelines without human intervention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106978" y="2217063"/>
            <a:ext cx="3729633" cy="1296591"/>
          </a:xfrm>
          <a:prstGeom prst="roundRect">
            <a:avLst>
              <a:gd name="adj" fmla="val 4500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3412" y="2363510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074837" y="2619375"/>
            <a:ext cx="179379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Immutable Standards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253424" y="2894767"/>
            <a:ext cx="343673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Policies defined as code and version-controlled alongside infrastructure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80190" y="3610808"/>
            <a:ext cx="3729633" cy="1296591"/>
          </a:xfrm>
          <a:prstGeom prst="roundRect">
            <a:avLst>
              <a:gd name="adj" fmla="val 4500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76624" y="3757255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21247" y="4013121"/>
            <a:ext cx="2047399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Evidence-Based Controls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26637" y="4288512"/>
            <a:ext cx="343673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 validation results replace subjective judgment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106978" y="3610808"/>
            <a:ext cx="3729633" cy="1296591"/>
          </a:xfrm>
          <a:prstGeom prst="roundRect">
            <a:avLst>
              <a:gd name="adj" fmla="val 4500"/>
            </a:avLst>
          </a:prstGeom>
          <a:solidFill>
            <a:srgbClr val="AF9646"/>
          </a:solidFill>
          <a:ln w="7620">
            <a:solidFill>
              <a:srgbClr val="957C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03412" y="3757255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103412" y="4013121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 Contracts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253424" y="4288512"/>
            <a:ext cx="343673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interfaces and dependencies explicitly declared and enforced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280190" y="5113853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80190" y="541305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Old Model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80190" y="5770602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review boards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80190" y="5993487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Endless coordination meetings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80190" y="6216372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Subjective approval processes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80190" y="6439257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 of waiting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235446" y="5113853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235446" y="541305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highlight>
                  <a:srgbClr val="E6F3E6"/>
                </a:highlight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New Model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235446" y="5770602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as code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executed automatically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235446" y="5993487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generation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real-time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235446" y="6216372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Immediate feedback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developers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235446" y="6439257"/>
            <a:ext cx="36087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at velocity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80190" y="6771442"/>
            <a:ext cx="7556421" cy="761167"/>
          </a:xfrm>
          <a:prstGeom prst="roundRect">
            <a:avLst>
              <a:gd name="adj" fmla="val 7666"/>
            </a:avLst>
          </a:prstGeom>
          <a:solidFill>
            <a:srgbClr val="CBE6CB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17" y="6934200"/>
            <a:ext cx="217051" cy="173593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774894" y="6903244"/>
            <a:ext cx="692288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becomes </a:t>
            </a:r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and policy</a:t>
            </a:r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meetings. Compliance is continuous, not a gate.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334929" cy="234553"/>
          </a:xfrm>
          <a:prstGeom prst="roundRect">
            <a:avLst>
              <a:gd name="adj" fmla="val 19902"/>
            </a:avLst>
          </a:prstGeom>
          <a:solidFill>
            <a:srgbClr val="D2BE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133" y="607457"/>
            <a:ext cx="111085" cy="1110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3702" y="587454"/>
            <a:ext cx="10016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IMPACT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93790" y="819150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Measured Impact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93790" y="1399103"/>
            <a:ext cx="1304282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projections are derived from analysis of 89 documented Terraform incidents, operational support data, and industry benchmarks for infrastructure standardization initiatives.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3790" y="2017395"/>
            <a:ext cx="403610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Incident Reduction Projections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793790" y="2579965"/>
            <a:ext cx="5978962" cy="173593"/>
          </a:xfrm>
          <a:prstGeom prst="roundRect">
            <a:avLst>
              <a:gd name="adj" fmla="val 33614"/>
            </a:avLst>
          </a:prstGeom>
          <a:solidFill>
            <a:srgbClr val="FFFFFF"/>
          </a:solidFill>
          <a:ln w="7620">
            <a:solidFill>
              <a:srgbClr val="CC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3790" y="2579965"/>
            <a:ext cx="3587353" cy="173593"/>
          </a:xfrm>
          <a:prstGeom prst="roundRect">
            <a:avLst>
              <a:gd name="adj" fmla="val 33614"/>
            </a:avLst>
          </a:prstGeom>
          <a:solidFill>
            <a:srgbClr val="E6B400"/>
          </a:solidFill>
          <a:ln/>
        </p:spPr>
      </p:sp>
      <p:sp>
        <p:nvSpPr>
          <p:cNvPr id="10" name="Text 7"/>
          <p:cNvSpPr/>
          <p:nvPr/>
        </p:nvSpPr>
        <p:spPr>
          <a:xfrm>
            <a:off x="6876931" y="2579965"/>
            <a:ext cx="37742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108603" y="2895838"/>
            <a:ext cx="183094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Conservative Estimate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3790" y="3171230"/>
            <a:ext cx="6460569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Minimum incident reduction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75922" y="2579965"/>
            <a:ext cx="5979081" cy="173593"/>
          </a:xfrm>
          <a:prstGeom prst="roundRect">
            <a:avLst>
              <a:gd name="adj" fmla="val 33614"/>
            </a:avLst>
          </a:prstGeom>
          <a:solidFill>
            <a:srgbClr val="FFFFFF"/>
          </a:solidFill>
          <a:ln w="7620">
            <a:solidFill>
              <a:srgbClr val="CC9A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75922" y="2579965"/>
            <a:ext cx="5082183" cy="173593"/>
          </a:xfrm>
          <a:prstGeom prst="roundRect">
            <a:avLst>
              <a:gd name="adj" fmla="val 33614"/>
            </a:avLst>
          </a:prstGeom>
          <a:solidFill>
            <a:srgbClr val="E6B400"/>
          </a:solidFill>
          <a:ln/>
        </p:spPr>
      </p:sp>
      <p:sp>
        <p:nvSpPr>
          <p:cNvPr id="15" name="Text 12"/>
          <p:cNvSpPr/>
          <p:nvPr/>
        </p:nvSpPr>
        <p:spPr>
          <a:xfrm>
            <a:off x="13459182" y="2579965"/>
            <a:ext cx="37742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85%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737884" y="2895838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Target Estimate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75922" y="3171230"/>
            <a:ext cx="6460688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 with full adoption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93790" y="3553301"/>
            <a:ext cx="277856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Financial Impact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93790" y="4225171"/>
            <a:ext cx="407705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$150K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1936552" y="4825841"/>
            <a:ext cx="179153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Direct Annual Savings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93790" y="5140047"/>
            <a:ext cx="407705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team efficiency gains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217319" y="4225171"/>
            <a:ext cx="407705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$310K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183987" y="4825841"/>
            <a:ext cx="214360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Conservative Total Impact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217319" y="5140047"/>
            <a:ext cx="407705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Including reduced incidents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640848" y="4225171"/>
            <a:ext cx="4210883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$2M+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10682764" y="4825841"/>
            <a:ext cx="212693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Enterprise-Wide Potential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640848" y="5140047"/>
            <a:ext cx="421088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LOB productivity impact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93790" y="5692021"/>
            <a:ext cx="227611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Specific Improvements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93790" y="6049566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corruption events: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Nearly eliminated through standardized workflows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93790" y="6319718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instability: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Dramatically reduced via validation gates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3790" y="6589871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rework: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Minimized through upfront standards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93790" y="6860024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LOB inefficiency: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Significant reduction in support tickets and escalations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492246" y="5692021"/>
            <a:ext cx="251293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Additional Impact Details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92246" y="6049566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Accelerated Deployments: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Faster time-to-market for new features.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492246" y="6319718"/>
            <a:ext cx="635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Enhanced Security Posture: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checks enforce compliance standards.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92246" y="6826091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Developer Experience: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Reduced friction and clearer guardrails.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492246" y="7096244"/>
            <a:ext cx="635198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Technical Debt: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Consistent patterns prevent future issues.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020961" cy="228838"/>
          </a:xfrm>
          <a:prstGeom prst="roundRect">
            <a:avLst>
              <a:gd name="adj" fmla="val 18942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608648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3462" y="592098"/>
            <a:ext cx="696277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8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STATE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808077"/>
            <a:ext cx="5771674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This Unlocks Next (Future State)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336953"/>
            <a:ext cx="13042821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Foundations serves as the architectural launchpad for next-generation platform capabilities. Once the foundation is stable, mature, and proven, advanced capabilities become possible.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759" y="1856780"/>
            <a:ext cx="1291233" cy="72235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3591" y="2127171"/>
            <a:ext cx="181332" cy="1813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28937" y="1985724"/>
            <a:ext cx="2040374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AI-Assisted Service Design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828937" y="2237423"/>
            <a:ext cx="560165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recommendations based on validated patterns and real usage data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732139" y="2591395"/>
            <a:ext cx="9072324" cy="7620"/>
          </a:xfrm>
          <a:prstGeom prst="roundRect">
            <a:avLst>
              <a:gd name="adj" fmla="val 711070"/>
            </a:avLst>
          </a:prstGeom>
          <a:solidFill>
            <a:srgbClr val="C3D4C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203" y="2611279"/>
            <a:ext cx="2582466" cy="722352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3710" y="2881670"/>
            <a:ext cx="181332" cy="1813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74613" y="2740223"/>
            <a:ext cx="169449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Faster GA Enablement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5474613" y="2991922"/>
            <a:ext cx="4836200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time-to-production for new services from months to weeks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5377815" y="3345894"/>
            <a:ext cx="8426648" cy="7620"/>
          </a:xfrm>
          <a:prstGeom prst="roundRect">
            <a:avLst>
              <a:gd name="adj" fmla="val 711070"/>
            </a:avLst>
          </a:prstGeom>
          <a:solidFill>
            <a:srgbClr val="C3D4C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527" y="3365778"/>
            <a:ext cx="3873698" cy="722352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3591" y="3636169"/>
            <a:ext cx="181332" cy="1813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120170" y="3494723"/>
            <a:ext cx="216622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Predictable Service Patterns</a:t>
            </a:r>
            <a:endParaRPr lang="en-US" sz="1250" dirty="0"/>
          </a:p>
        </p:txBody>
      </p:sp>
      <p:sp>
        <p:nvSpPr>
          <p:cNvPr id="20" name="Text 11"/>
          <p:cNvSpPr/>
          <p:nvPr/>
        </p:nvSpPr>
        <p:spPr>
          <a:xfrm>
            <a:off x="6120170" y="3746421"/>
            <a:ext cx="413218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blueprints that teams can confidently reuse</a:t>
            </a:r>
            <a:endParaRPr lang="en-US" sz="1250" dirty="0"/>
          </a:p>
        </p:txBody>
      </p:sp>
      <p:sp>
        <p:nvSpPr>
          <p:cNvPr id="21" name="Shape 12"/>
          <p:cNvSpPr/>
          <p:nvPr/>
        </p:nvSpPr>
        <p:spPr>
          <a:xfrm>
            <a:off x="6023372" y="4100393"/>
            <a:ext cx="7781092" cy="7620"/>
          </a:xfrm>
          <a:prstGeom prst="roundRect">
            <a:avLst>
              <a:gd name="adj" fmla="val 711070"/>
            </a:avLst>
          </a:prstGeom>
          <a:solidFill>
            <a:srgbClr val="C3D4C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1970" y="4120277"/>
            <a:ext cx="5164931" cy="722352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63710" y="4390668"/>
            <a:ext cx="181332" cy="1813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765846" y="4249222"/>
            <a:ext cx="190214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Reduced Support Burden</a:t>
            </a:r>
            <a:endParaRPr lang="en-US" sz="1250" dirty="0"/>
          </a:p>
        </p:txBody>
      </p:sp>
      <p:sp>
        <p:nvSpPr>
          <p:cNvPr id="25" name="Text 14"/>
          <p:cNvSpPr/>
          <p:nvPr/>
        </p:nvSpPr>
        <p:spPr>
          <a:xfrm>
            <a:off x="6765846" y="4500920"/>
            <a:ext cx="527327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Self-service capabilities with automated guidance replace manual tickets</a:t>
            </a:r>
            <a:endParaRPr lang="en-US" sz="1250" dirty="0"/>
          </a:p>
        </p:txBody>
      </p:sp>
      <p:sp>
        <p:nvSpPr>
          <p:cNvPr id="26" name="Shape 15"/>
          <p:cNvSpPr/>
          <p:nvPr/>
        </p:nvSpPr>
        <p:spPr>
          <a:xfrm>
            <a:off x="6669048" y="4854893"/>
            <a:ext cx="7135416" cy="7620"/>
          </a:xfrm>
          <a:prstGeom prst="roundRect">
            <a:avLst>
              <a:gd name="adj" fmla="val 711070"/>
            </a:avLst>
          </a:prstGeom>
          <a:solidFill>
            <a:srgbClr val="C3D4C3"/>
          </a:solidFill>
          <a:ln/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294" y="4874776"/>
            <a:ext cx="6456164" cy="722352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63710" y="5145167"/>
            <a:ext cx="181332" cy="1813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411403" y="5003721"/>
            <a:ext cx="195762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Scalable Platform Growth</a:t>
            </a:r>
            <a:endParaRPr lang="en-US" sz="1250" dirty="0"/>
          </a:p>
        </p:txBody>
      </p:sp>
      <p:sp>
        <p:nvSpPr>
          <p:cNvPr id="30" name="Text 17"/>
          <p:cNvSpPr/>
          <p:nvPr/>
        </p:nvSpPr>
        <p:spPr>
          <a:xfrm>
            <a:off x="7411403" y="5255419"/>
            <a:ext cx="583025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that scales with organizational needs without linear cost increases</a:t>
            </a:r>
            <a:endParaRPr lang="en-US" sz="1250" dirty="0"/>
          </a:p>
        </p:txBody>
      </p:sp>
      <p:sp>
        <p:nvSpPr>
          <p:cNvPr id="31" name="Shape 18"/>
          <p:cNvSpPr/>
          <p:nvPr/>
        </p:nvSpPr>
        <p:spPr>
          <a:xfrm>
            <a:off x="793790" y="5691426"/>
            <a:ext cx="13042821" cy="468511"/>
          </a:xfrm>
          <a:prstGeom prst="roundRect">
            <a:avLst>
              <a:gd name="adj" fmla="val 11565"/>
            </a:avLst>
          </a:prstGeom>
          <a:solidFill>
            <a:srgbClr val="008A00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734" y="5826323"/>
            <a:ext cx="201573" cy="161211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253252" y="5807393"/>
            <a:ext cx="1245441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becomes the </a:t>
            </a:r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launchpad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next-generation platforms such as TDX, enabling capabilities impossible without a solid foundation.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293971" cy="228838"/>
          </a:xfrm>
          <a:prstGeom prst="roundRect">
            <a:avLst>
              <a:gd name="adj" fmla="val 18942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608648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3462" y="592098"/>
            <a:ext cx="969288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8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EXTENSION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808077"/>
            <a:ext cx="682049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Next Step (Future): Extend Beyond Terraform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336953"/>
            <a:ext cx="13042821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Terraform Foundations are proven stable and delivering measurable value, the same architectural model extends naturally to other infrastructure and configuration management systems.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1940600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Reusable Model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3790" y="2276713"/>
            <a:ext cx="6364129" cy="728662"/>
          </a:xfrm>
          <a:prstGeom prst="roundRect">
            <a:avLst>
              <a:gd name="adj" fmla="val 7436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354" y="2413278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0354" y="2698552"/>
            <a:ext cx="609099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patterns and archetypes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3790" y="3089196"/>
            <a:ext cx="6364129" cy="728662"/>
          </a:xfrm>
          <a:prstGeom prst="roundRect">
            <a:avLst>
              <a:gd name="adj" fmla="val 7436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0354" y="322576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0354" y="3511034"/>
            <a:ext cx="609099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Machine-readable documentation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3790" y="3901678"/>
            <a:ext cx="6364129" cy="728662"/>
          </a:xfrm>
          <a:prstGeom prst="roundRect">
            <a:avLst>
              <a:gd name="adj" fmla="val 7436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0354" y="403824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30354" y="4323517"/>
            <a:ext cx="609099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enforcement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3790" y="4714161"/>
            <a:ext cx="6364129" cy="728662"/>
          </a:xfrm>
          <a:prstGeom prst="roundRect">
            <a:avLst>
              <a:gd name="adj" fmla="val 7436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0354" y="485072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 Contracts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30354" y="5135999"/>
            <a:ext cx="609099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interface definitions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102" y="1951077"/>
            <a:ext cx="2356485" cy="23564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80102" y="4401860"/>
            <a:ext cx="258603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Future Target: Ansible / AAP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480102" y="4727496"/>
            <a:ext cx="6364129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the same foundation model to Ansible Automation Platform: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480102" y="5015627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Standardized, validated, cataloged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480102" y="5215176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Playbooks: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Consistent structure and metadata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480102" y="5414724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Collections: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Versioned with explicit dependencies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93790" y="574000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93790" y="6182916"/>
            <a:ext cx="4138732" cy="638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Cross-tooling visibility: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Dependencies become visible across infrastructure (Terraform) and configuration (Ansible)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254704" y="6182916"/>
            <a:ext cx="4137422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governance: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Same validation and evidence model applies universally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9714309" y="6182916"/>
            <a:ext cx="4137422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AI reasoning: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Systems can reason across the full stack, not just one tool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93790" y="6990874"/>
            <a:ext cx="13042821" cy="468511"/>
          </a:xfrm>
          <a:prstGeom prst="roundRect">
            <a:avLst>
              <a:gd name="adj" fmla="val 11565"/>
            </a:avLst>
          </a:prstGeom>
          <a:solidFill>
            <a:srgbClr val="CBE6C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4" y="7125772"/>
            <a:ext cx="201573" cy="16121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53252" y="7106841"/>
            <a:ext cx="1245441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point: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This is not "adding Ansible scope" now — it's </a:t>
            </a:r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extending a proven foundation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after Terraform success is demonstrated.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5783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Summary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493044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initiative addresses a critical enterprise need through systematic engineering rather than superficial modernization.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93790" y="2062163"/>
            <a:ext cx="4228148" cy="2264926"/>
          </a:xfrm>
          <a:prstGeom prst="roundRect">
            <a:avLst>
              <a:gd name="adj" fmla="val 19980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6962" y="2258258"/>
            <a:ext cx="300168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Fixes Terraform at the Root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89886" y="2660332"/>
            <a:ext cx="3835956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Addresses systemic problems, not symptoms. Eliminates recurring failure patterns through standardization.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01007" y="2062163"/>
            <a:ext cx="4228267" cy="2264926"/>
          </a:xfrm>
          <a:prstGeom prst="roundRect">
            <a:avLst>
              <a:gd name="adj" fmla="val 19980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5584" y="2258258"/>
            <a:ext cx="337911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Reduces Real, Measured Costs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397103" y="2660332"/>
            <a:ext cx="3836075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$800K–$2.5M+ annual impact reduction based on documented incident analysis and operational data.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08344" y="2062163"/>
            <a:ext cx="4228148" cy="2264926"/>
          </a:xfrm>
          <a:prstGeom prst="roundRect">
            <a:avLst>
              <a:gd name="adj" fmla="val 19980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5165" y="2258258"/>
            <a:ext cx="365438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Improves Reliability and Velocity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804440" y="2660332"/>
            <a:ext cx="3835956" cy="110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deployments with fewer failures. Teams spend time building, not recovering from incidents.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93790" y="4506158"/>
            <a:ext cx="6431756" cy="1529596"/>
          </a:xfrm>
          <a:prstGeom prst="roundRect">
            <a:avLst>
              <a:gd name="adj" fmla="val 29584"/>
            </a:avLst>
          </a:prstGeom>
          <a:solidFill>
            <a:srgbClr val="1F7135"/>
          </a:solidFill>
          <a:ln w="7620">
            <a:solidFill>
              <a:srgbClr val="388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5381" y="4702254"/>
            <a:ext cx="382845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Enables AI Safely and Responsibly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9886" y="5104328"/>
            <a:ext cx="6039564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Creates the structured foundation AI requires. No hype, no speculation—just practical capabilities.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04616" y="4506158"/>
            <a:ext cx="6431875" cy="1529596"/>
          </a:xfrm>
          <a:prstGeom prst="roundRect">
            <a:avLst>
              <a:gd name="adj" fmla="val 29584"/>
            </a:avLst>
          </a:prstGeom>
          <a:solidFill>
            <a:srgbClr val="957D00"/>
          </a:solidFill>
          <a:ln w="7620">
            <a:solidFill>
              <a:srgbClr val="AE96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2713" y="4702254"/>
            <a:ext cx="449556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Creates a Durable Enterprise Foundation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600712" y="5104328"/>
            <a:ext cx="6039683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Extensible model proven with Terraform, ready to scale to Ansible and beyond.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93790" y="6237208"/>
            <a:ext cx="13042821" cy="1216819"/>
          </a:xfrm>
          <a:prstGeom prst="roundRect">
            <a:avLst>
              <a:gd name="adj" fmla="val 6508"/>
            </a:avLst>
          </a:prstGeom>
          <a:solidFill>
            <a:srgbClr val="F2F2F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66" y="6523792"/>
            <a:ext cx="294561" cy="2356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5302" y="6463308"/>
            <a:ext cx="12182832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point:</a:t>
            </a:r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This is not "optional modernization" — it is </a:t>
            </a:r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foundational engineering</a:t>
            </a:r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required for sustainable platform growth.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45783"/>
            <a:ext cx="1882735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472" y="660559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8478" y="612934"/>
            <a:ext cx="139136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REQUIRED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0134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Ask / Next Steps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1931194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Moving forward requires organizational alignment, appropriate resourcing, and a phased approach that prioritizes foundational work before dependent capabilities.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294834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 on Terraform Foundations as a Priority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Recognize this as critical infrastructure work, not a "nice to have" modernization effort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33352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 and Staff the Foundational Work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Allocate dedicated engineering resources with infrastructure and automation expertise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37222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Treat AI as a Dependent Capability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Sequence initiatives correctly: foundation first, AI capabilities second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410920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Success Through Outcomes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Track incident reduction, deployment velocity, and service enablement speed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3790" y="44961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Extension to Ansible After Terraform Stability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Apply the proven model to AAP only after Terraform Foundations deliver results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93790" y="5111353"/>
            <a:ext cx="118096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Build the foundation once. </a:t>
            </a:r>
            <a:pPr algn="l" indent="0" marL="0">
              <a:lnSpc>
                <a:spcPts val="4850"/>
              </a:lnSpc>
              <a:buNone/>
            </a:pPr>
            <a:r>
              <a:rPr lang="en-US" sz="3900" b="1" i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Leverage it everywhere.</a:t>
            </a: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2026-01-22T14:09:08Z</dcterms:created>
  <dcterms:modified xsi:type="dcterms:W3CDTF">2026-01-22T14:09:08Z</dcterms:modified>
</cp:coreProperties>
</file>